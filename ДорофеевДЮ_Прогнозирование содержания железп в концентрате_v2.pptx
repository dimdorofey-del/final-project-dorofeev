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71" r:id="rId5"/>
    <p:sldId id="272" r:id="rId6"/>
    <p:sldId id="294" r:id="rId7"/>
    <p:sldId id="295" r:id="rId8"/>
    <p:sldId id="296" r:id="rId9"/>
    <p:sldId id="303" r:id="rId10"/>
    <p:sldId id="302" r:id="rId11"/>
    <p:sldId id="297" r:id="rId12"/>
    <p:sldId id="298" r:id="rId13"/>
    <p:sldId id="299" r:id="rId14"/>
    <p:sldId id="300" r:id="rId15"/>
    <p:sldId id="301" r:id="rId1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999"/>
    <a:srgbClr val="102D69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23" autoAdjust="0"/>
    <p:restoredTop sz="94694"/>
  </p:normalViewPr>
  <p:slideViewPr>
    <p:cSldViewPr snapToGrid="0" snapToObjects="1">
      <p:cViewPr varScale="1">
        <p:scale>
          <a:sx n="152" d="100"/>
          <a:sy n="152" d="100"/>
        </p:scale>
        <p:origin x="1116" y="1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11/25/2025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11/25/2025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601772"/>
            <a:ext cx="7634059" cy="1978323"/>
          </a:xfrm>
        </p:spPr>
        <p:txBody>
          <a:bodyPr/>
          <a:lstStyle/>
          <a:p>
            <a:r>
              <a:rPr lang="ru-RU" dirty="0"/>
              <a:t>Прогнозирование содержания железа в рудном концентрате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Центр непрерывного образования</a:t>
            </a:r>
          </a:p>
          <a:p>
            <a:r>
              <a:rPr lang="ru-RU" dirty="0"/>
              <a:t>Факультета компьютерных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784515" y="1187841"/>
            <a:ext cx="2217738" cy="463186"/>
          </a:xfrm>
        </p:spPr>
        <p:txBody>
          <a:bodyPr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2025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Слушатель: Дорофеев Дмитрий</a:t>
            </a:r>
          </a:p>
          <a:p>
            <a:r>
              <a:rPr lang="ru-RU" dirty="0"/>
              <a:t>Руководитель: </a:t>
            </a:r>
            <a:r>
              <a:rPr lang="ru-RU" dirty="0" err="1"/>
              <a:t>Абдуракипов</a:t>
            </a:r>
            <a:r>
              <a:rPr lang="ru-RU" dirty="0"/>
              <a:t> Сергей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BEEDB0-FC6A-D9E6-08C0-16B8B8425AB4}"/>
              </a:ext>
            </a:extLst>
          </p:cNvPr>
          <p:cNvSpPr/>
          <p:nvPr/>
        </p:nvSpPr>
        <p:spPr>
          <a:xfrm>
            <a:off x="5839548" y="908094"/>
            <a:ext cx="580171" cy="1054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3B09B93-59D8-DDBE-9119-8425913B4D69}"/>
              </a:ext>
            </a:extLst>
          </p:cNvPr>
          <p:cNvSpPr/>
          <p:nvPr/>
        </p:nvSpPr>
        <p:spPr>
          <a:xfrm>
            <a:off x="354170" y="1164174"/>
            <a:ext cx="5995116" cy="21521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261666"/>
            <a:ext cx="5510102" cy="2498965"/>
          </a:xfrm>
        </p:spPr>
        <p:txBody>
          <a:bodyPr/>
          <a:lstStyle/>
          <a:p>
            <a:pPr algn="just"/>
            <a:r>
              <a:rPr lang="ru-RU" b="1" dirty="0"/>
              <a:t>Сталь</a:t>
            </a:r>
            <a:r>
              <a:rPr lang="ru-RU" dirty="0"/>
              <a:t> — один из основных материалов для строительства и производства, а ее потребление ежегодно составляет сотни миллионов тонн. Оценить масштабы выплавки стали в 2024 году можно на основе данных Всемирной ассоциации производителей стали (</a:t>
            </a:r>
            <a:r>
              <a:rPr lang="ru-RU" i="1" dirty="0"/>
              <a:t>World Steel Association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Общемировой объем производства стали в минувшем году составил </a:t>
            </a:r>
            <a:r>
              <a:rPr lang="ru-RU" u="sng" dirty="0"/>
              <a:t>1,9 млрд тонн</a:t>
            </a:r>
            <a:r>
              <a:rPr lang="ru-RU" dirty="0"/>
              <a:t>. При этом более половины (1 млрд тонн) пришлось на </a:t>
            </a:r>
            <a:r>
              <a:rPr lang="ru-RU" b="1" dirty="0"/>
              <a:t>Китай</a:t>
            </a:r>
            <a:r>
              <a:rPr lang="ru-RU" dirty="0"/>
              <a:t> — эта страна лидирует в рейтинге с огромным отрывом. На втором месте идет </a:t>
            </a:r>
            <a:r>
              <a:rPr lang="ru-RU" b="1" dirty="0"/>
              <a:t>Индия</a:t>
            </a:r>
            <a:r>
              <a:rPr lang="ru-RU" dirty="0"/>
              <a:t>, где в 2024-м произвели 149 млн тонн стали, а замыкает тройку </a:t>
            </a:r>
            <a:r>
              <a:rPr lang="ru-RU" b="1" dirty="0"/>
              <a:t>Япония</a:t>
            </a:r>
            <a:r>
              <a:rPr lang="ru-RU" dirty="0"/>
              <a:t> (84 млн тонн)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7CE8F2-78AE-C13E-EE03-4BDEECFAAA4D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4BBE11D-E4D1-303D-F829-9B6EC6B40F63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745CF-3507-4BC5-6006-562CA0176773}"/>
              </a:ext>
            </a:extLst>
          </p:cNvPr>
          <p:cNvSpPr txBox="1"/>
          <p:nvPr/>
        </p:nvSpPr>
        <p:spPr>
          <a:xfrm>
            <a:off x="11742687" y="6333043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7DFB23-2E08-AF92-F1BE-BD165AD0138C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631D19EE-DBEE-73C9-682F-9ED2001EC79B}"/>
              </a:ext>
            </a:extLst>
          </p:cNvPr>
          <p:cNvSpPr txBox="1">
            <a:spLocks/>
          </p:cNvSpPr>
          <p:nvPr/>
        </p:nvSpPr>
        <p:spPr>
          <a:xfrm>
            <a:off x="585898" y="3678750"/>
            <a:ext cx="5510102" cy="249896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ru-RU" sz="1800" b="1" dirty="0"/>
              <a:t>Применение стали: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Машиностроение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Авиастроение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Энергетика и нефтегаз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 Пищевая отрасль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Железнодорожный транспорт</a:t>
            </a:r>
          </a:p>
          <a:p>
            <a:pPr marL="342900" indent="-342900" algn="just">
              <a:spcBef>
                <a:spcPts val="600"/>
              </a:spcBef>
              <a:buAutoNum type="arabicParenR"/>
            </a:pPr>
            <a:r>
              <a:rPr lang="ru-RU" sz="1800" dirty="0"/>
              <a:t>Медицина</a:t>
            </a:r>
          </a:p>
          <a:p>
            <a:pPr marL="342900" indent="-342900" algn="just">
              <a:buAutoNum type="arabicParenR"/>
            </a:pP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E854C36-2123-2160-41EF-1286BEEA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7" t="1455" b="26573"/>
          <a:stretch>
            <a:fillRect/>
          </a:stretch>
        </p:blipFill>
        <p:spPr>
          <a:xfrm>
            <a:off x="7441226" y="355680"/>
            <a:ext cx="3791423" cy="25178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6F8E1AA-3D93-1BC6-EE00-28A53754358E}"/>
              </a:ext>
            </a:extLst>
          </p:cNvPr>
          <p:cNvSpPr txBox="1"/>
          <p:nvPr/>
        </p:nvSpPr>
        <p:spPr>
          <a:xfrm>
            <a:off x="8172067" y="2884497"/>
            <a:ext cx="232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Топ стран-производителей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World Steel Association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F07C7F7-78F3-30AA-0546-27EFABC4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t="25367" r="11038" b="8277"/>
          <a:stretch>
            <a:fillRect/>
          </a:stretch>
        </p:blipFill>
        <p:spPr>
          <a:xfrm>
            <a:off x="7348025" y="3429000"/>
            <a:ext cx="3884624" cy="2664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E2F594A-4D1C-3CFB-9A23-C9BF0BF1313D}"/>
              </a:ext>
            </a:extLst>
          </p:cNvPr>
          <p:cNvSpPr txBox="1"/>
          <p:nvPr/>
        </p:nvSpPr>
        <p:spPr>
          <a:xfrm>
            <a:off x="8060722" y="6040655"/>
            <a:ext cx="2552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Мировые темпы потребления стали</a:t>
            </a:r>
          </a:p>
          <a:p>
            <a:pPr algn="ctr"/>
            <a:r>
              <a:rPr lang="ru-RU" sz="1200" dirty="0">
                <a:latin typeface="HSE Sans" panose="02000000000000000000" pitchFamily="2" charset="0"/>
              </a:rPr>
              <a:t>(</a:t>
            </a:r>
            <a:r>
              <a:rPr lang="en-US" sz="1200" i="1" dirty="0">
                <a:latin typeface="HSE Sans" panose="02000000000000000000" pitchFamily="2" charset="0"/>
              </a:rPr>
              <a:t>Wiki</a:t>
            </a:r>
            <a:r>
              <a:rPr lang="en-US" sz="1200" dirty="0">
                <a:latin typeface="HSE Sans" panose="02000000000000000000" pitchFamily="2" charset="0"/>
              </a:rPr>
              <a:t>)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29A6-B7B6-6D12-5575-1A00A9FF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BA6EEC2-CAE4-7FE6-0B39-B46F4F217653}"/>
              </a:ext>
            </a:extLst>
          </p:cNvPr>
          <p:cNvSpPr/>
          <p:nvPr/>
        </p:nvSpPr>
        <p:spPr>
          <a:xfrm>
            <a:off x="585897" y="3197247"/>
            <a:ext cx="6381363" cy="9270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A4BEB9-2AB7-9E66-4D27-BCB2D72355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9989" y="1261666"/>
            <a:ext cx="6072285" cy="485338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dirty="0"/>
              <a:t>Руда (30 – 50</a:t>
            </a:r>
            <a:r>
              <a:rPr lang="en-US" b="1" dirty="0"/>
              <a:t> </a:t>
            </a:r>
            <a:r>
              <a:rPr lang="ru-RU" b="1" dirty="0"/>
              <a:t>% </a:t>
            </a:r>
            <a:r>
              <a:rPr lang="en-US" b="1" dirty="0"/>
              <a:t>Fe) – </a:t>
            </a:r>
            <a:r>
              <a:rPr lang="ru-RU" dirty="0"/>
              <a:t>природное образование, содержащее металлы в таких соединениях и концентрациях, при которых их промышленное использование </a:t>
            </a:r>
            <a:r>
              <a:rPr lang="ru-RU" u="sng" dirty="0"/>
              <a:t>технически возможно </a:t>
            </a:r>
            <a:r>
              <a:rPr lang="ru-RU" dirty="0"/>
              <a:t>и </a:t>
            </a:r>
            <a:r>
              <a:rPr lang="ru-RU" u="sng" dirty="0"/>
              <a:t>экономически целесообразно </a:t>
            </a:r>
            <a:r>
              <a:rPr lang="ru-RU" dirty="0"/>
              <a:t>– </a:t>
            </a:r>
            <a:r>
              <a:rPr lang="ru-RU" b="1" dirty="0"/>
              <a:t>по сути горная порода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Концентрат </a:t>
            </a:r>
            <a:r>
              <a:rPr lang="en-US" b="1" dirty="0"/>
              <a:t>(64 - 67 % Fe) </a:t>
            </a:r>
            <a:r>
              <a:rPr lang="ru-RU" b="1" dirty="0"/>
              <a:t>– </a:t>
            </a:r>
            <a:r>
              <a:rPr lang="ru-RU" dirty="0"/>
              <a:t>исходное сырьё для получения чугуна и стали. Для получения концентрата руду </a:t>
            </a:r>
            <a:r>
              <a:rPr lang="ru-RU" u="sng" dirty="0"/>
              <a:t>необходимо обогатить железом</a:t>
            </a:r>
            <a:r>
              <a:rPr lang="ru-RU" dirty="0"/>
              <a:t> с учётом свойств материала. </a:t>
            </a:r>
          </a:p>
          <a:p>
            <a:pPr algn="just"/>
            <a:r>
              <a:rPr lang="ru-RU" b="1" dirty="0"/>
              <a:t>Обогащение – </a:t>
            </a:r>
            <a:r>
              <a:rPr lang="ru-RU" dirty="0"/>
              <a:t>повышение содержания железа путём отделения рудного минерала от пустой породы. </a:t>
            </a:r>
          </a:p>
          <a:p>
            <a:pPr algn="just"/>
            <a:endParaRPr lang="ru-RU" dirty="0"/>
          </a:p>
          <a:p>
            <a:pPr algn="just"/>
            <a:r>
              <a:rPr lang="ru-RU" sz="2000" dirty="0"/>
              <a:t>Ежегодно на территории СНГ обогащают около </a:t>
            </a:r>
            <a:r>
              <a:rPr lang="ru-RU" sz="2000" b="1" dirty="0"/>
              <a:t>1 млрд тонн руды</a:t>
            </a:r>
            <a:r>
              <a:rPr lang="ru-RU" sz="2000" dirty="0"/>
              <a:t> 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b="1" dirty="0"/>
              <a:t>Зачем обогащать руду?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Снижение расхода топлива при плавке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Увеличение производительности печи</a:t>
            </a:r>
          </a:p>
          <a:p>
            <a:pPr marL="457200" indent="-457200" algn="just">
              <a:buAutoNum type="arabicParenR"/>
            </a:pPr>
            <a:r>
              <a:rPr lang="ru-RU" sz="2000" dirty="0"/>
              <a:t>Очистка от вредных примесей</a:t>
            </a:r>
          </a:p>
          <a:p>
            <a:pPr algn="just"/>
            <a:endParaRPr lang="ru-RU" sz="2400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F42F9DE-C2B8-AABE-8E8A-C96A31D9D566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21A6803-A674-7AC9-E750-668AFC1DFD8B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106F0-33E3-C17C-C61A-16ACFC1599B9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D7AC3-376D-B79B-BBB4-3290F13A0D9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C262C0-DD31-326C-E66C-8C145E306343}"/>
              </a:ext>
            </a:extLst>
          </p:cNvPr>
          <p:cNvSpPr txBox="1"/>
          <p:nvPr/>
        </p:nvSpPr>
        <p:spPr>
          <a:xfrm>
            <a:off x="8987573" y="2723998"/>
            <a:ext cx="1168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Железная руда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D3A45A-9673-6008-91DB-C9DDA816C6C1}"/>
              </a:ext>
            </a:extLst>
          </p:cNvPr>
          <p:cNvSpPr txBox="1"/>
          <p:nvPr/>
        </p:nvSpPr>
        <p:spPr>
          <a:xfrm>
            <a:off x="8804255" y="6027351"/>
            <a:ext cx="1650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SE Sans" panose="02000000000000000000" pitchFamily="2" charset="0"/>
              </a:rPr>
              <a:t>Железный концентрат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897B80A-5237-CBCF-9108-0E2F4D35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Проблематика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F66389A-1153-BF06-A0DC-27A6F1BCE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9" b="13910"/>
          <a:stretch>
            <a:fillRect/>
          </a:stretch>
        </p:blipFill>
        <p:spPr bwMode="auto">
          <a:xfrm>
            <a:off x="8026906" y="704225"/>
            <a:ext cx="2949925" cy="211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9DA743B-7563-2E36-1C2E-8737117DD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" t="15934" r="7371" b="9793"/>
          <a:stretch>
            <a:fillRect/>
          </a:stretch>
        </p:blipFill>
        <p:spPr bwMode="auto">
          <a:xfrm>
            <a:off x="8026906" y="4033447"/>
            <a:ext cx="3089604" cy="197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05D22EA2-810F-01B3-7B8C-19567B6AE9E8}"/>
              </a:ext>
            </a:extLst>
          </p:cNvPr>
          <p:cNvSpPr/>
          <p:nvPr/>
        </p:nvSpPr>
        <p:spPr>
          <a:xfrm>
            <a:off x="9388828" y="3112511"/>
            <a:ext cx="365760" cy="806878"/>
          </a:xfrm>
          <a:prstGeom prst="downArrow">
            <a:avLst/>
          </a:prstGeom>
          <a:solidFill>
            <a:srgbClr val="244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FE89E-310C-89EC-037C-FB210B7B0EF4}"/>
              </a:ext>
            </a:extLst>
          </p:cNvPr>
          <p:cNvSpPr txBox="1"/>
          <p:nvPr/>
        </p:nvSpPr>
        <p:spPr>
          <a:xfrm>
            <a:off x="9809164" y="3259723"/>
            <a:ext cx="1307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dirty="0">
                <a:latin typeface="HSE Sans" panose="02000000000000000000" pitchFamily="2" charset="0"/>
              </a:rPr>
              <a:t>Обогащение</a:t>
            </a:r>
          </a:p>
        </p:txBody>
      </p:sp>
    </p:spTree>
    <p:extLst>
      <p:ext uri="{BB962C8B-B14F-4D97-AF65-F5344CB8AC3E}">
        <p14:creationId xmlns:p14="http://schemas.microsoft.com/office/powerpoint/2010/main" val="393740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D4D6-C025-2389-016A-B95BCBF0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882E65-4336-2078-45A2-E03CDC4363FE}"/>
              </a:ext>
            </a:extLst>
          </p:cNvPr>
          <p:cNvSpPr/>
          <p:nvPr/>
        </p:nvSpPr>
        <p:spPr>
          <a:xfrm>
            <a:off x="2918591" y="315712"/>
            <a:ext cx="4047359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8EFD4DD-D1A1-B192-9163-B154DEBAAFAA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503C9-D1E4-D7CE-B8D4-F1F8E38FD95B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9D938-310D-C5F5-35A9-67C532034CA6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DDC79B1-399D-A8B6-4E9C-059F1E53F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Логика анализа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F6EB1C5-AB8B-73B1-2E72-70209D64DFB8}"/>
              </a:ext>
            </a:extLst>
          </p:cNvPr>
          <p:cNvSpPr/>
          <p:nvPr/>
        </p:nvSpPr>
        <p:spPr>
          <a:xfrm>
            <a:off x="427149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548E73A-4317-502B-5D60-471E6F6DA4F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816101" y="2271375"/>
            <a:ext cx="8572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Текст 3">
            <a:extLst>
              <a:ext uri="{FF2B5EF4-FFF2-40B4-BE49-F238E27FC236}">
                <a16:creationId xmlns:a16="http://schemas.microsoft.com/office/drawing/2014/main" id="{7A9CF747-0839-6808-2815-F3D5A135FA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7808" y="527831"/>
            <a:ext cx="5510102" cy="1355410"/>
          </a:xfrm>
        </p:spPr>
        <p:txBody>
          <a:bodyPr/>
          <a:lstStyle/>
          <a:p>
            <a:pPr algn="just"/>
            <a:r>
              <a:rPr lang="ru-RU" sz="1800" b="1" dirty="0"/>
              <a:t>Исходные данные:</a:t>
            </a:r>
          </a:p>
          <a:p>
            <a:pPr marL="342900" indent="-342900" algn="just">
              <a:buAutoNum type="arabicParenR"/>
            </a:pPr>
            <a:r>
              <a:rPr lang="en-US" dirty="0"/>
              <a:t>RESULTS – </a:t>
            </a:r>
            <a:r>
              <a:rPr lang="ru-RU" dirty="0"/>
              <a:t>данные с результатами измерений концентрации железа</a:t>
            </a:r>
          </a:p>
          <a:p>
            <a:pPr marL="342900" indent="-342900" algn="just">
              <a:buAutoNum type="arabicParenR"/>
            </a:pPr>
            <a:r>
              <a:rPr lang="en-US" dirty="0"/>
              <a:t>SENSORS – </a:t>
            </a:r>
            <a:r>
              <a:rPr lang="ru-RU" dirty="0"/>
              <a:t>данные с производственных датчиков</a:t>
            </a:r>
          </a:p>
          <a:p>
            <a:pPr marL="342900" indent="-342900" algn="just">
              <a:buAutoNum type="arabicParenR"/>
            </a:pPr>
            <a:r>
              <a:rPr lang="en-US" dirty="0"/>
              <a:t>SENSORS_INFO – </a:t>
            </a:r>
            <a:r>
              <a:rPr lang="ru-RU" dirty="0"/>
              <a:t>информация о сенсорах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460F890-B8ED-5A8A-1BDA-024192220F20}"/>
              </a:ext>
            </a:extLst>
          </p:cNvPr>
          <p:cNvSpPr/>
          <p:nvPr/>
        </p:nvSpPr>
        <p:spPr>
          <a:xfrm>
            <a:off x="2673350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87FB0-E451-D9AC-DDBC-5B83D74CFC58}"/>
              </a:ext>
            </a:extLst>
          </p:cNvPr>
          <p:cNvSpPr txBox="1"/>
          <p:nvPr/>
        </p:nvSpPr>
        <p:spPr>
          <a:xfrm>
            <a:off x="2673350" y="3481026"/>
            <a:ext cx="70130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dirty="0">
                <a:latin typeface="HSE Sans" panose="02000000000000000000" pitchFamily="2" charset="0"/>
              </a:rPr>
              <a:t>Небольшая блок-схема, чтобы продемонстрировать</a:t>
            </a:r>
          </a:p>
          <a:p>
            <a:pPr algn="l"/>
            <a:r>
              <a:rPr lang="ru-RU" sz="2400" dirty="0">
                <a:latin typeface="HSE Sans" panose="02000000000000000000" pitchFamily="2" charset="0"/>
              </a:rPr>
              <a:t> что было сделано</a:t>
            </a:r>
          </a:p>
        </p:txBody>
      </p:sp>
    </p:spTree>
    <p:extLst>
      <p:ext uri="{BB962C8B-B14F-4D97-AF65-F5344CB8AC3E}">
        <p14:creationId xmlns:p14="http://schemas.microsoft.com/office/powerpoint/2010/main" val="234133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A52A-6607-2263-471D-849DF2E1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BEE5C8-B053-643B-1ADA-8EF95EC043F8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E4A795A-9A41-B368-3CDA-4355AF31AF2F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742AD-BC0E-CE56-900F-7B1B033CFDB5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20B7C7-5CC0-002B-24C5-7D1302BBCD9B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B36CC1D-29B7-FEB6-2A19-FCCAE273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226267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B2F34-404C-3CB7-A972-7DF932FD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E6E9AF4-13EB-B541-F3BF-4D04CA915AF0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76DD014-0FDD-35B1-4327-E2FCCBAAFFB6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19093-7279-DEA3-5153-C821D4A4EBC1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7B57A5-203F-A892-39C3-BE3A62E1F26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9F5332B-0F57-D5F7-1CA5-20C441E8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Отбор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37839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9772-D574-31B4-7DCB-31F723EC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2009263-55E2-C11E-7C56-CAC416E8581D}"/>
              </a:ext>
            </a:extLst>
          </p:cNvPr>
          <p:cNvSpPr/>
          <p:nvPr/>
        </p:nvSpPr>
        <p:spPr>
          <a:xfrm>
            <a:off x="2918591" y="315712"/>
            <a:ext cx="4047359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D21A3E-AC87-9BCD-8871-33D736E81E8D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9D214-7FC7-D365-B6FA-74DC8E00B341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CB314-0EAA-23A4-79FC-59B3366FE9DE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2B9F4A8-CE3A-50D7-C850-C7D195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Модели </a:t>
            </a:r>
            <a:r>
              <a:rPr lang="en-US" sz="2800" b="1" dirty="0"/>
              <a:t>ML </a:t>
            </a:r>
            <a:r>
              <a:rPr lang="ru-RU" sz="2800" b="1" dirty="0"/>
              <a:t>и показатели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44846DB-7414-B702-8CD4-2D6DFD3BC932}"/>
              </a:ext>
            </a:extLst>
          </p:cNvPr>
          <p:cNvSpPr/>
          <p:nvPr/>
        </p:nvSpPr>
        <p:spPr>
          <a:xfrm>
            <a:off x="427149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C857F18-CA8E-531E-205D-2DDDEFC5A0F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816101" y="2271375"/>
            <a:ext cx="8572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50E55BA-3019-C499-4DA6-715F2F67D9B9}"/>
              </a:ext>
            </a:extLst>
          </p:cNvPr>
          <p:cNvSpPr/>
          <p:nvPr/>
        </p:nvSpPr>
        <p:spPr>
          <a:xfrm>
            <a:off x="2673350" y="1957466"/>
            <a:ext cx="1388952" cy="627818"/>
          </a:xfrm>
          <a:prstGeom prst="round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58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6DA2-DAA2-2C3A-53E3-2AA05396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B439A6-BAA1-6C6D-7F17-9E71E39F2AB6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E2E3F-FD52-8F0A-64A4-FB686F0263BE}"/>
              </a:ext>
            </a:extLst>
          </p:cNvPr>
          <p:cNvSpPr/>
          <p:nvPr/>
        </p:nvSpPr>
        <p:spPr>
          <a:xfrm>
            <a:off x="9994006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EDEFD-9016-D6D1-B414-AE72351B8C7F}"/>
              </a:ext>
            </a:extLst>
          </p:cNvPr>
          <p:cNvSpPr txBox="1"/>
          <p:nvPr/>
        </p:nvSpPr>
        <p:spPr>
          <a:xfrm>
            <a:off x="11742687" y="6336408"/>
            <a:ext cx="314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71693-550F-33BB-B4C9-7FD591EB4A1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D835B6-779F-AF85-5AA8-B38CBBE9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Результаты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37A8B-C530-8C94-47BB-77C67F5A09E0}"/>
              </a:ext>
            </a:extLst>
          </p:cNvPr>
          <p:cNvSpPr txBox="1"/>
          <p:nvPr/>
        </p:nvSpPr>
        <p:spPr>
          <a:xfrm>
            <a:off x="2088433" y="3429000"/>
            <a:ext cx="780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То что получилось и возможно сопоставление с литературными источниками</a:t>
            </a:r>
          </a:p>
        </p:txBody>
      </p:sp>
    </p:spTree>
    <p:extLst>
      <p:ext uri="{BB962C8B-B14F-4D97-AF65-F5344CB8AC3E}">
        <p14:creationId xmlns:p14="http://schemas.microsoft.com/office/powerpoint/2010/main" val="224094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8758-B614-33F2-82B5-F41444C6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0A9CDC7-93AE-1E54-AD70-DF7941A6607C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04300B-22E2-E6E0-5371-BA1940B2667A}"/>
              </a:ext>
            </a:extLst>
          </p:cNvPr>
          <p:cNvSpPr/>
          <p:nvPr/>
        </p:nvSpPr>
        <p:spPr>
          <a:xfrm>
            <a:off x="9964045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2856B-FBF3-1C7A-8F8E-08E79C43724C}"/>
              </a:ext>
            </a:extLst>
          </p:cNvPr>
          <p:cNvSpPr txBox="1"/>
          <p:nvPr/>
        </p:nvSpPr>
        <p:spPr>
          <a:xfrm>
            <a:off x="11742687" y="6336408"/>
            <a:ext cx="314784" cy="698068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2" charset="0"/>
              </a:rPr>
              <a:t>7</a:t>
            </a:r>
            <a:r>
              <a:rPr lang="ru-RU" dirty="0"/>
              <a:t>Проведенное исследование было направлено на решение актуальной задачи оптимизации технологического процесса обогащения железной руды на основе данных </a:t>
            </a:r>
            <a:r>
              <a:rPr lang="ru-RU" dirty="0" err="1"/>
              <a:t>датчикового</a:t>
            </a:r>
            <a:r>
              <a:rPr lang="ru-RU" dirty="0"/>
              <a:t> мониторинга и измерений содержания железа в конечном концентрате. Комплексный анализ данных и построение прогнозных моделей позволили идентифицировать ключевые параметры процесса, оказывающие наиболее существенное влияние на целевую переменную.</a:t>
            </a:r>
          </a:p>
          <a:p>
            <a:r>
              <a:rPr lang="ru-RU" dirty="0"/>
              <a:t>В результате предобработки и консолидации данных был сформирован единый </a:t>
            </a:r>
            <a:r>
              <a:rPr lang="ru-RU" dirty="0" err="1"/>
              <a:t>датафрейм</a:t>
            </a:r>
            <a:r>
              <a:rPr lang="ru-RU" dirty="0"/>
              <a:t>, содержащий 40 260 наблюдений и 44 признака. Статистический анализ показал, что распределения большинства параметров существенно отличаются от нормального, что обусловило использование непараметрических методов на начальном этапе отбора признаков.</a:t>
            </a:r>
          </a:p>
          <a:p>
            <a:r>
              <a:rPr lang="ru-RU" dirty="0"/>
              <a:t>Для выявления наиболее значимых параметров процесса был применен комплексный подход, включающий корреляционный анализ </a:t>
            </a:r>
            <a:r>
              <a:rPr lang="ru-RU" dirty="0" err="1"/>
              <a:t>Спирмена</a:t>
            </a:r>
            <a:r>
              <a:rPr lang="ru-RU" dirty="0"/>
              <a:t>, дисперсионный анализ и алгоритм </a:t>
            </a:r>
            <a:r>
              <a:rPr lang="ru-RU" dirty="0" err="1"/>
              <a:t>ExtraTreesRegressor</a:t>
            </a:r>
            <a:r>
              <a:rPr lang="ru-RU" dirty="0"/>
              <a:t>. Сравнение результатов показало, что признак </a:t>
            </a:r>
            <a:r>
              <a:rPr lang="ru-RU" b="1" dirty="0"/>
              <a:t>1663 (Вес руды в мельницу № 32)</a:t>
            </a:r>
            <a:r>
              <a:rPr lang="ru-RU" dirty="0"/>
              <a:t> стабильно входит в число наиболее влиятельных, что подтверждает его фундаментальную роль в процессе.</a:t>
            </a:r>
          </a:p>
          <a:p>
            <a:r>
              <a:rPr lang="ru-RU" dirty="0"/>
              <a:t>Для прогнозирования количественного значения содержания железа наилучшие результаты показала модель </a:t>
            </a:r>
            <a:r>
              <a:rPr lang="ru-RU" b="1" dirty="0" err="1"/>
              <a:t>MLPRegressor</a:t>
            </a:r>
            <a:r>
              <a:rPr lang="ru-RU" dirty="0"/>
              <a:t>. Анализ </a:t>
            </a:r>
            <a:r>
              <a:rPr lang="ru-RU" dirty="0" err="1"/>
              <a:t>пермутационной</a:t>
            </a:r>
            <a:r>
              <a:rPr lang="ru-RU" dirty="0"/>
              <a:t> важности признаков для этой модели выявил наиболее влиятельные параметры:</a:t>
            </a:r>
          </a:p>
          <a:p>
            <a:r>
              <a:rPr lang="ru-RU" b="1" dirty="0"/>
              <a:t>1323 (Расход воды в м-</a:t>
            </a:r>
            <a:r>
              <a:rPr lang="ru-RU" b="1" dirty="0" err="1"/>
              <a:t>цу</a:t>
            </a:r>
            <a:r>
              <a:rPr lang="ru-RU" b="1" dirty="0"/>
              <a:t> № 33)</a:t>
            </a:r>
            <a:r>
              <a:rPr lang="ru-RU" dirty="0"/>
              <a:t> - определяет плотность пульпы и эффективность разделения минералов</a:t>
            </a:r>
          </a:p>
          <a:p>
            <a:r>
              <a:rPr lang="ru-RU" b="1" dirty="0"/>
              <a:t>1446 (Давление ГЦ № 32-71)</a:t>
            </a:r>
            <a:r>
              <a:rPr lang="ru-RU" dirty="0"/>
              <a:t> - характеризует работу гидроциклонов и тонкость классификации</a:t>
            </a:r>
          </a:p>
          <a:p>
            <a:r>
              <a:rPr lang="ru-RU" b="1" dirty="0"/>
              <a:t>1662 (Вес руды в мельницу № 31)</a:t>
            </a:r>
            <a:r>
              <a:rPr lang="ru-RU" dirty="0"/>
              <a:t> - определяет производительность узла измельчения</a:t>
            </a:r>
          </a:p>
          <a:p>
            <a:r>
              <a:rPr lang="ru-RU" b="1" dirty="0"/>
              <a:t>1388 (Мощность мельницы № 32)</a:t>
            </a:r>
            <a:r>
              <a:rPr lang="ru-RU" dirty="0"/>
              <a:t> - отражает нагрузку на привод и эффективность помола</a:t>
            </a:r>
          </a:p>
          <a:p>
            <a:r>
              <a:rPr lang="ru-RU" dirty="0"/>
              <a:t>Для задачи идентификации «оптимального» технологического режима наивысшее качество продемонстрировала модель </a:t>
            </a:r>
            <a:r>
              <a:rPr lang="ru-RU" b="1" dirty="0" err="1"/>
              <a:t>XGBClassifier</a:t>
            </a:r>
            <a:r>
              <a:rPr lang="ru-RU" dirty="0"/>
              <a:t>. Анализ важности признаков показал, что для стабильного оптимального результата ключевыми являются параметры, характеризующие сбалансированность потоков:</a:t>
            </a:r>
          </a:p>
          <a:p>
            <a:r>
              <a:rPr lang="ru-RU" b="1" dirty="0"/>
              <a:t>1660 (ВАЗМ м-</a:t>
            </a:r>
            <a:r>
              <a:rPr lang="ru-RU" b="1" dirty="0" err="1"/>
              <a:t>цы</a:t>
            </a:r>
            <a:r>
              <a:rPr lang="ru-RU" b="1" dirty="0"/>
              <a:t> № 33)</a:t>
            </a:r>
            <a:r>
              <a:rPr lang="ru-RU" dirty="0"/>
              <a:t> - объемная загрузка мельницы, определяющая эффективность помола</a:t>
            </a:r>
          </a:p>
          <a:p>
            <a:r>
              <a:rPr lang="ru-RU" b="1" dirty="0"/>
              <a:t>1318 (Плотность песков МД 3-9)</a:t>
            </a:r>
            <a:r>
              <a:rPr lang="ru-RU" dirty="0"/>
              <a:t> - характеризует качество работы классификаторов</a:t>
            </a:r>
          </a:p>
          <a:p>
            <a:r>
              <a:rPr lang="ru-RU" b="1" dirty="0"/>
              <a:t>1313 (Плотность на сливе </a:t>
            </a:r>
            <a:r>
              <a:rPr lang="ru-RU" b="1" dirty="0" err="1"/>
              <a:t>пульподелителя</a:t>
            </a:r>
            <a:r>
              <a:rPr lang="ru-RU" b="1" dirty="0"/>
              <a:t>)</a:t>
            </a:r>
            <a:r>
              <a:rPr lang="ru-RU" dirty="0"/>
              <a:t> - отражает равномерность распределения пульпы</a:t>
            </a:r>
          </a:p>
          <a:p>
            <a:r>
              <a:rPr lang="ru-RU" b="1" dirty="0"/>
              <a:t>1320 (Плотность питания 5-й стадии ММС)</a:t>
            </a:r>
            <a:r>
              <a:rPr lang="ru-RU" dirty="0"/>
              <a:t> - определяет эффективность конечной стадии измельчения</a:t>
            </a:r>
          </a:p>
          <a:p>
            <a:r>
              <a:rPr lang="ru-RU" dirty="0"/>
              <a:t>Практическая значимость работы заключается в том, что выявленные параметры представляют собой конкретные «точки приложения» для оперативного управления технологическим процессом. Контроль загрузки мельниц, регулирование водного режима и поддержание оптимальных плотностей пульпы позволяют не только стабилизировать качество концентрата, но и предотвращать выход процесса за границы оптимальной зоны.</a:t>
            </a:r>
          </a:p>
          <a:p>
            <a:r>
              <a:rPr lang="ru-RU" dirty="0"/>
              <a:t>Результаты исследования могут быть использованы для создания системы предиктивного анализа и поддержки принятия технологических решений на горно-обогатительном комбинате.</a:t>
            </a:r>
          </a:p>
          <a:p>
            <a:pPr algn="l"/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C66FF-E26E-7BF4-24B3-1193FD630D12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7B3BEAE-E01C-1CC3-115A-BEECA786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Выводы и перспективы</a:t>
            </a:r>
          </a:p>
        </p:txBody>
      </p:sp>
    </p:spTree>
    <p:extLst>
      <p:ext uri="{BB962C8B-B14F-4D97-AF65-F5344CB8AC3E}">
        <p14:creationId xmlns:p14="http://schemas.microsoft.com/office/powerpoint/2010/main" val="51944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32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E8D0E-511B-B063-94C5-EBE33E99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EDFE75-394F-C52F-9148-4913407DC350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40E347E-51CA-F6CD-D72B-4AD424E08007}"/>
              </a:ext>
            </a:extLst>
          </p:cNvPr>
          <p:cNvSpPr/>
          <p:nvPr/>
        </p:nvSpPr>
        <p:spPr>
          <a:xfrm>
            <a:off x="9964045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C1393-92C3-93C6-DD91-8A0A7AD27832}"/>
              </a:ext>
            </a:extLst>
          </p:cNvPr>
          <p:cNvSpPr txBox="1"/>
          <p:nvPr/>
        </p:nvSpPr>
        <p:spPr>
          <a:xfrm>
            <a:off x="11742687" y="6336408"/>
            <a:ext cx="314784" cy="698068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2" charset="0"/>
              </a:rPr>
              <a:t>7</a:t>
            </a:r>
            <a:r>
              <a:rPr lang="ru-RU" dirty="0"/>
              <a:t>Проведенное исследование было направлено на решение актуальной задачи оптимизации технологического процесса обогащения железной руды на основе данных </a:t>
            </a:r>
            <a:r>
              <a:rPr lang="ru-RU" dirty="0" err="1"/>
              <a:t>датчикового</a:t>
            </a:r>
            <a:r>
              <a:rPr lang="ru-RU" dirty="0"/>
              <a:t> мониторинга и измерений содержания железа в конечном концентрате. Комплексный анализ данных и построение прогнозных моделей позволили идентифицировать ключевые параметры процесса, оказывающие наиболее существенное влияние на целевую переменную.</a:t>
            </a:r>
          </a:p>
          <a:p>
            <a:r>
              <a:rPr lang="ru-RU" dirty="0"/>
              <a:t>В результате предобработки и консолидации данных был сформирован единый </a:t>
            </a:r>
            <a:r>
              <a:rPr lang="ru-RU" dirty="0" err="1"/>
              <a:t>датафрейм</a:t>
            </a:r>
            <a:r>
              <a:rPr lang="ru-RU" dirty="0"/>
              <a:t>, содержащий 40 260 наблюдений и 44 признака. Статистический анализ показал, что распределения большинства параметров существенно отличаются от нормального, что обусловило использование непараметрических методов на начальном этапе отбора признаков.</a:t>
            </a:r>
          </a:p>
          <a:p>
            <a:r>
              <a:rPr lang="ru-RU" dirty="0"/>
              <a:t>Для выявления наиболее значимых параметров процесса был применен комплексный подход, включающий корреляционный анализ </a:t>
            </a:r>
            <a:r>
              <a:rPr lang="ru-RU" dirty="0" err="1"/>
              <a:t>Спирмена</a:t>
            </a:r>
            <a:r>
              <a:rPr lang="ru-RU" dirty="0"/>
              <a:t>, дисперсионный анализ и алгоритм </a:t>
            </a:r>
            <a:r>
              <a:rPr lang="ru-RU" dirty="0" err="1"/>
              <a:t>ExtraTreesRegressor</a:t>
            </a:r>
            <a:r>
              <a:rPr lang="ru-RU" dirty="0"/>
              <a:t>. Сравнение результатов показало, что признак </a:t>
            </a:r>
            <a:r>
              <a:rPr lang="ru-RU" b="1" dirty="0"/>
              <a:t>1663 (Вес руды в мельницу № 32)</a:t>
            </a:r>
            <a:r>
              <a:rPr lang="ru-RU" dirty="0"/>
              <a:t> стабильно входит в число наиболее влиятельных, что подтверждает его фундаментальную роль в процессе.</a:t>
            </a:r>
          </a:p>
          <a:p>
            <a:r>
              <a:rPr lang="ru-RU" dirty="0"/>
              <a:t>Для прогнозирования количественного значения содержания железа наилучшие результаты показала модель </a:t>
            </a:r>
            <a:r>
              <a:rPr lang="ru-RU" b="1" dirty="0" err="1"/>
              <a:t>MLPRegressor</a:t>
            </a:r>
            <a:r>
              <a:rPr lang="ru-RU" dirty="0"/>
              <a:t>. Анализ </a:t>
            </a:r>
            <a:r>
              <a:rPr lang="ru-RU" dirty="0" err="1"/>
              <a:t>пермутационной</a:t>
            </a:r>
            <a:r>
              <a:rPr lang="ru-RU" dirty="0"/>
              <a:t> важности признаков для этой модели выявил наиболее влиятельные параметры:</a:t>
            </a:r>
          </a:p>
          <a:p>
            <a:r>
              <a:rPr lang="ru-RU" b="1" dirty="0"/>
              <a:t>1323 (Расход воды в м-</a:t>
            </a:r>
            <a:r>
              <a:rPr lang="ru-RU" b="1" dirty="0" err="1"/>
              <a:t>цу</a:t>
            </a:r>
            <a:r>
              <a:rPr lang="ru-RU" b="1" dirty="0"/>
              <a:t> № 33)</a:t>
            </a:r>
            <a:r>
              <a:rPr lang="ru-RU" dirty="0"/>
              <a:t> - определяет плотность пульпы и эффективность разделения минералов</a:t>
            </a:r>
          </a:p>
          <a:p>
            <a:r>
              <a:rPr lang="ru-RU" b="1" dirty="0"/>
              <a:t>1446 (Давление ГЦ № 32-71)</a:t>
            </a:r>
            <a:r>
              <a:rPr lang="ru-RU" dirty="0"/>
              <a:t> - характеризует работу гидроциклонов и тонкость классификации</a:t>
            </a:r>
          </a:p>
          <a:p>
            <a:r>
              <a:rPr lang="ru-RU" b="1" dirty="0"/>
              <a:t>1662 (Вес руды в мельницу № 31)</a:t>
            </a:r>
            <a:r>
              <a:rPr lang="ru-RU" dirty="0"/>
              <a:t> - определяет производительность узла измельчения</a:t>
            </a:r>
          </a:p>
          <a:p>
            <a:r>
              <a:rPr lang="ru-RU" b="1" dirty="0"/>
              <a:t>1388 (Мощность мельницы № 32)</a:t>
            </a:r>
            <a:r>
              <a:rPr lang="ru-RU" dirty="0"/>
              <a:t> - отражает нагрузку на привод и эффективность помола</a:t>
            </a:r>
          </a:p>
          <a:p>
            <a:r>
              <a:rPr lang="ru-RU" dirty="0"/>
              <a:t>Для задачи идентификации «оптимального» технологического режима наивысшее качество продемонстрировала модель </a:t>
            </a:r>
            <a:r>
              <a:rPr lang="ru-RU" b="1" dirty="0" err="1"/>
              <a:t>XGBClassifier</a:t>
            </a:r>
            <a:r>
              <a:rPr lang="ru-RU" dirty="0"/>
              <a:t>. Анализ важности признаков показал, что для стабильного оптимального результата ключевыми являются параметры, характеризующие сбалансированность потоков:</a:t>
            </a:r>
          </a:p>
          <a:p>
            <a:r>
              <a:rPr lang="ru-RU" b="1" dirty="0"/>
              <a:t>1660 (ВАЗМ м-</a:t>
            </a:r>
            <a:r>
              <a:rPr lang="ru-RU" b="1" dirty="0" err="1"/>
              <a:t>цы</a:t>
            </a:r>
            <a:r>
              <a:rPr lang="ru-RU" b="1" dirty="0"/>
              <a:t> № 33)</a:t>
            </a:r>
            <a:r>
              <a:rPr lang="ru-RU" dirty="0"/>
              <a:t> - объемная загрузка мельницы, определяющая эффективность помола</a:t>
            </a:r>
          </a:p>
          <a:p>
            <a:r>
              <a:rPr lang="ru-RU" b="1" dirty="0"/>
              <a:t>1318 (Плотность песков МД 3-9)</a:t>
            </a:r>
            <a:r>
              <a:rPr lang="ru-RU" dirty="0"/>
              <a:t> - характеризует качество работы классификаторов</a:t>
            </a:r>
          </a:p>
          <a:p>
            <a:r>
              <a:rPr lang="ru-RU" b="1" dirty="0"/>
              <a:t>1313 (Плотность на сливе </a:t>
            </a:r>
            <a:r>
              <a:rPr lang="ru-RU" b="1" dirty="0" err="1"/>
              <a:t>пульподелителя</a:t>
            </a:r>
            <a:r>
              <a:rPr lang="ru-RU" b="1" dirty="0"/>
              <a:t>)</a:t>
            </a:r>
            <a:r>
              <a:rPr lang="ru-RU" dirty="0"/>
              <a:t> - отражает равномерность распределения пульпы</a:t>
            </a:r>
          </a:p>
          <a:p>
            <a:r>
              <a:rPr lang="ru-RU" b="1" dirty="0"/>
              <a:t>1320 (Плотность питания 5-й стадии ММС)</a:t>
            </a:r>
            <a:r>
              <a:rPr lang="ru-RU" dirty="0"/>
              <a:t> - определяет эффективность конечной стадии измельчения</a:t>
            </a:r>
          </a:p>
          <a:p>
            <a:r>
              <a:rPr lang="ru-RU" dirty="0"/>
              <a:t>Практическая значимость работы заключается в том, что выявленные параметры представляют собой конкретные «точки приложения» для оперативного управления технологическим процессом. Контроль загрузки мельниц, регулирование водного режима и поддержание оптимальных плотностей пульпы позволяют не только стабилизировать качество концентрата, но и предотвращать выход процесса за границы оптимальной зоны.</a:t>
            </a:r>
          </a:p>
          <a:p>
            <a:r>
              <a:rPr lang="ru-RU" dirty="0"/>
              <a:t>Результаты исследования могут быть использованы для создания системы предиктивного анализа и поддержки принятия технологических решений на горно-обогатительном комбинате.</a:t>
            </a:r>
          </a:p>
          <a:p>
            <a:pPr algn="l"/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8444F-F44B-A0F8-D55F-5C78123C102B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E5BF4B-5BF7-C546-C047-18202EA7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Приложение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B2CC0-6EBE-B13E-FA97-8C3B26F27D7B}"/>
              </a:ext>
            </a:extLst>
          </p:cNvPr>
          <p:cNvSpPr txBox="1"/>
          <p:nvPr/>
        </p:nvSpPr>
        <p:spPr>
          <a:xfrm>
            <a:off x="2055824" y="3105834"/>
            <a:ext cx="7979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Тут что-то для пояснения технологии обогащения, если возникнут вопросы </a:t>
            </a:r>
          </a:p>
          <a:p>
            <a:pPr algn="l"/>
            <a:r>
              <a:rPr lang="ru-RU" dirty="0">
                <a:latin typeface="HSE Sans" panose="02000000000000000000" pitchFamily="2" charset="0"/>
              </a:rPr>
              <a:t>по существу самых влиятельных параметров – если не понятно что происходит</a:t>
            </a:r>
          </a:p>
        </p:txBody>
      </p:sp>
    </p:spTree>
    <p:extLst>
      <p:ext uri="{BB962C8B-B14F-4D97-AF65-F5344CB8AC3E}">
        <p14:creationId xmlns:p14="http://schemas.microsoft.com/office/powerpoint/2010/main" val="306354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C5CE6-9527-BB70-0EA3-6A474247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20B576-C1E2-4FF2-1E7F-BFFD344384F2}"/>
              </a:ext>
            </a:extLst>
          </p:cNvPr>
          <p:cNvSpPr/>
          <p:nvPr/>
        </p:nvSpPr>
        <p:spPr>
          <a:xfrm>
            <a:off x="2918591" y="315712"/>
            <a:ext cx="6710987" cy="777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8696E4-72F5-9353-9431-3F2259E7ACED}"/>
              </a:ext>
            </a:extLst>
          </p:cNvPr>
          <p:cNvSpPr/>
          <p:nvPr/>
        </p:nvSpPr>
        <p:spPr>
          <a:xfrm>
            <a:off x="9964045" y="315712"/>
            <a:ext cx="1906073" cy="882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9691E8-0C27-9881-C8FC-3E2E1D639099}"/>
              </a:ext>
            </a:extLst>
          </p:cNvPr>
          <p:cNvSpPr txBox="1"/>
          <p:nvPr/>
        </p:nvSpPr>
        <p:spPr>
          <a:xfrm>
            <a:off x="11742687" y="6336408"/>
            <a:ext cx="314784" cy="698068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2" charset="0"/>
              </a:rPr>
              <a:t>7</a:t>
            </a:r>
            <a:r>
              <a:rPr lang="ru-RU" dirty="0"/>
              <a:t>Проведенное исследование было направлено на решение актуальной задачи оптимизации технологического процесса обогащения железной руды на основе данных </a:t>
            </a:r>
            <a:r>
              <a:rPr lang="ru-RU" dirty="0" err="1"/>
              <a:t>датчикового</a:t>
            </a:r>
            <a:r>
              <a:rPr lang="ru-RU" dirty="0"/>
              <a:t> мониторинга и измерений содержания железа в конечном концентрате. Комплексный анализ данных и построение прогнозных моделей позволили идентифицировать ключевые параметры процесса, оказывающие наиболее существенное влияние на целевую переменную.</a:t>
            </a:r>
          </a:p>
          <a:p>
            <a:r>
              <a:rPr lang="ru-RU" dirty="0"/>
              <a:t>В результате предобработки и консолидации данных был сформирован единый </a:t>
            </a:r>
            <a:r>
              <a:rPr lang="ru-RU" dirty="0" err="1"/>
              <a:t>датафрейм</a:t>
            </a:r>
            <a:r>
              <a:rPr lang="ru-RU" dirty="0"/>
              <a:t>, содержащий 40 260 наблюдений и 44 признака. Статистический анализ показал, что распределения большинства параметров существенно отличаются от нормального, что обусловило использование непараметрических методов на начальном этапе отбора признаков.</a:t>
            </a:r>
          </a:p>
          <a:p>
            <a:r>
              <a:rPr lang="ru-RU" dirty="0"/>
              <a:t>Для выявления наиболее значимых параметров процесса был применен комплексный подход, включающий корреляционный анализ </a:t>
            </a:r>
            <a:r>
              <a:rPr lang="ru-RU" dirty="0" err="1"/>
              <a:t>Спирмена</a:t>
            </a:r>
            <a:r>
              <a:rPr lang="ru-RU" dirty="0"/>
              <a:t>, дисперсионный анализ и алгоритм </a:t>
            </a:r>
            <a:r>
              <a:rPr lang="ru-RU" dirty="0" err="1"/>
              <a:t>ExtraTreesRegressor</a:t>
            </a:r>
            <a:r>
              <a:rPr lang="ru-RU" dirty="0"/>
              <a:t>. Сравнение результатов показало, что признак </a:t>
            </a:r>
            <a:r>
              <a:rPr lang="ru-RU" b="1" dirty="0"/>
              <a:t>1663 (Вес руды в мельницу № 32)</a:t>
            </a:r>
            <a:r>
              <a:rPr lang="ru-RU" dirty="0"/>
              <a:t> стабильно входит в число наиболее влиятельных, что подтверждает его фундаментальную роль в процессе.</a:t>
            </a:r>
          </a:p>
          <a:p>
            <a:r>
              <a:rPr lang="ru-RU" dirty="0"/>
              <a:t>Для прогнозирования количественного значения содержания железа наилучшие результаты показала модель </a:t>
            </a:r>
            <a:r>
              <a:rPr lang="ru-RU" b="1" dirty="0" err="1"/>
              <a:t>MLPRegressor</a:t>
            </a:r>
            <a:r>
              <a:rPr lang="ru-RU" dirty="0"/>
              <a:t>. Анализ </a:t>
            </a:r>
            <a:r>
              <a:rPr lang="ru-RU" dirty="0" err="1"/>
              <a:t>пермутационной</a:t>
            </a:r>
            <a:r>
              <a:rPr lang="ru-RU" dirty="0"/>
              <a:t> важности признаков для этой модели выявил наиболее влиятельные параметры:</a:t>
            </a:r>
          </a:p>
          <a:p>
            <a:r>
              <a:rPr lang="ru-RU" b="1" dirty="0"/>
              <a:t>1323 (Расход воды в м-</a:t>
            </a:r>
            <a:r>
              <a:rPr lang="ru-RU" b="1" dirty="0" err="1"/>
              <a:t>цу</a:t>
            </a:r>
            <a:r>
              <a:rPr lang="ru-RU" b="1" dirty="0"/>
              <a:t> № 33)</a:t>
            </a:r>
            <a:r>
              <a:rPr lang="ru-RU" dirty="0"/>
              <a:t> - определяет плотность пульпы и эффективность разделения минералов</a:t>
            </a:r>
          </a:p>
          <a:p>
            <a:r>
              <a:rPr lang="ru-RU" b="1" dirty="0"/>
              <a:t>1446 (Давление ГЦ № 32-71)</a:t>
            </a:r>
            <a:r>
              <a:rPr lang="ru-RU" dirty="0"/>
              <a:t> - характеризует работу гидроциклонов и тонкость классификации</a:t>
            </a:r>
          </a:p>
          <a:p>
            <a:r>
              <a:rPr lang="ru-RU" b="1" dirty="0"/>
              <a:t>1662 (Вес руды в мельницу № 31)</a:t>
            </a:r>
            <a:r>
              <a:rPr lang="ru-RU" dirty="0"/>
              <a:t> - определяет производительность узла измельчения</a:t>
            </a:r>
          </a:p>
          <a:p>
            <a:r>
              <a:rPr lang="ru-RU" b="1" dirty="0"/>
              <a:t>1388 (Мощность мельницы № 32)</a:t>
            </a:r>
            <a:r>
              <a:rPr lang="ru-RU" dirty="0"/>
              <a:t> - отражает нагрузку на привод и эффективность помола</a:t>
            </a:r>
          </a:p>
          <a:p>
            <a:r>
              <a:rPr lang="ru-RU" dirty="0"/>
              <a:t>Для задачи идентификации «оптимального» технологического режима наивысшее качество продемонстрировала модель </a:t>
            </a:r>
            <a:r>
              <a:rPr lang="ru-RU" b="1" dirty="0" err="1"/>
              <a:t>XGBClassifier</a:t>
            </a:r>
            <a:r>
              <a:rPr lang="ru-RU" dirty="0"/>
              <a:t>. Анализ важности признаков показал, что для стабильного оптимального результата ключевыми являются параметры, характеризующие сбалансированность потоков:</a:t>
            </a:r>
          </a:p>
          <a:p>
            <a:r>
              <a:rPr lang="ru-RU" b="1" dirty="0"/>
              <a:t>1660 (ВАЗМ м-</a:t>
            </a:r>
            <a:r>
              <a:rPr lang="ru-RU" b="1" dirty="0" err="1"/>
              <a:t>цы</a:t>
            </a:r>
            <a:r>
              <a:rPr lang="ru-RU" b="1" dirty="0"/>
              <a:t> № 33)</a:t>
            </a:r>
            <a:r>
              <a:rPr lang="ru-RU" dirty="0"/>
              <a:t> - объемная загрузка мельницы, определяющая эффективность помола</a:t>
            </a:r>
          </a:p>
          <a:p>
            <a:r>
              <a:rPr lang="ru-RU" b="1" dirty="0"/>
              <a:t>1318 (Плотность песков МД 3-9)</a:t>
            </a:r>
            <a:r>
              <a:rPr lang="ru-RU" dirty="0"/>
              <a:t> - характеризует качество работы классификаторов</a:t>
            </a:r>
          </a:p>
          <a:p>
            <a:r>
              <a:rPr lang="ru-RU" b="1" dirty="0"/>
              <a:t>1313 (Плотность на сливе </a:t>
            </a:r>
            <a:r>
              <a:rPr lang="ru-RU" b="1" dirty="0" err="1"/>
              <a:t>пульподелителя</a:t>
            </a:r>
            <a:r>
              <a:rPr lang="ru-RU" b="1" dirty="0"/>
              <a:t>)</a:t>
            </a:r>
            <a:r>
              <a:rPr lang="ru-RU" dirty="0"/>
              <a:t> - отражает равномерность распределения пульпы</a:t>
            </a:r>
          </a:p>
          <a:p>
            <a:r>
              <a:rPr lang="ru-RU" b="1" dirty="0"/>
              <a:t>1320 (Плотность питания 5-й стадии ММС)</a:t>
            </a:r>
            <a:r>
              <a:rPr lang="ru-RU" dirty="0"/>
              <a:t> - определяет эффективность конечной стадии измельчения</a:t>
            </a:r>
          </a:p>
          <a:p>
            <a:r>
              <a:rPr lang="ru-RU" dirty="0"/>
              <a:t>Практическая значимость работы заключается в том, что выявленные параметры представляют собой конкретные «точки приложения» для оперативного управления технологическим процессом. Контроль загрузки мельниц, регулирование водного режима и поддержание оптимальных плотностей пульпы позволяют не только стабилизировать качество концентрата, но и предотвращать выход процесса за границы оптимальной зоны.</a:t>
            </a:r>
          </a:p>
          <a:p>
            <a:r>
              <a:rPr lang="ru-RU" dirty="0"/>
              <a:t>Результаты исследования могут быть использованы для создания системы предиктивного анализа и поддержки принятия технологических решений на горно-обогатительном комбинате.</a:t>
            </a:r>
          </a:p>
          <a:p>
            <a:pPr algn="l"/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24E85-2232-EDAF-42A1-140905204759}"/>
              </a:ext>
            </a:extLst>
          </p:cNvPr>
          <p:cNvSpPr txBox="1"/>
          <p:nvPr/>
        </p:nvSpPr>
        <p:spPr>
          <a:xfrm>
            <a:off x="4200288" y="143856"/>
            <a:ext cx="3791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 «Прогнозирование содержания железа в рудном концентрате»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3FC5402-DF3F-F58E-555E-EA5C06D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918" y="487569"/>
            <a:ext cx="5245560" cy="777025"/>
          </a:xfrm>
        </p:spPr>
        <p:txBody>
          <a:bodyPr>
            <a:normAutofit/>
          </a:bodyPr>
          <a:lstStyle/>
          <a:p>
            <a:r>
              <a:rPr lang="ru-RU" sz="2800" b="1" dirty="0"/>
              <a:t>Приложение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F4616-58F1-A726-5383-86BBBE1879CC}"/>
              </a:ext>
            </a:extLst>
          </p:cNvPr>
          <p:cNvSpPr txBox="1"/>
          <p:nvPr/>
        </p:nvSpPr>
        <p:spPr>
          <a:xfrm>
            <a:off x="2055824" y="3105834"/>
            <a:ext cx="371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Тут какие-то важные детали из кода</a:t>
            </a:r>
          </a:p>
        </p:txBody>
      </p:sp>
    </p:spTree>
    <p:extLst>
      <p:ext uri="{BB962C8B-B14F-4D97-AF65-F5344CB8AC3E}">
        <p14:creationId xmlns:p14="http://schemas.microsoft.com/office/powerpoint/2010/main" val="1665440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1593</Words>
  <Application>Microsoft Office PowerPoint</Application>
  <PresentationFormat>Широкоэкранный</PresentationFormat>
  <Paragraphs>115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HSE Sans</vt:lpstr>
      <vt:lpstr>Office Theme</vt:lpstr>
      <vt:lpstr>Прогнозирование содержания железа в рудном концентрате</vt:lpstr>
      <vt:lpstr>Введение</vt:lpstr>
      <vt:lpstr>Проблематика</vt:lpstr>
      <vt:lpstr>Логика анализа</vt:lpstr>
      <vt:lpstr>Постановка задачи</vt:lpstr>
      <vt:lpstr>Отбор признаков</vt:lpstr>
      <vt:lpstr>Модели ML и показатели</vt:lpstr>
      <vt:lpstr>Результаты </vt:lpstr>
      <vt:lpstr>Выводы и перспективы</vt:lpstr>
      <vt:lpstr>Презентация PowerPoint</vt:lpstr>
      <vt:lpstr>Приложение 1</vt:lpstr>
      <vt:lpstr>Приложение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Дорофеев Дмитрий Юрьевич</cp:lastModifiedBy>
  <cp:revision>18</cp:revision>
  <cp:lastPrinted>2021-11-11T13:08:42Z</cp:lastPrinted>
  <dcterms:created xsi:type="dcterms:W3CDTF">2021-11-11T08:52:47Z</dcterms:created>
  <dcterms:modified xsi:type="dcterms:W3CDTF">2025-11-25T11:59:49Z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
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71" r:id="rId5"/>
    <p:sldId id="272" r:id="rId6"/>
    <p:sldId id="294" r:id="rId7"/>
    <p:sldId id="295" r:id="rId8"/>
    <p:sldId id="296" r:id="rId9"/>
    <p:sldId id="297" r:id="rId10"/>
    <p:sldId id="298" r:id="rId11"/>
    <p:sldId id="293" r:id="rId12"/>
    <p:sldId id="287" r:id="rId13"/>
    <p:sldId id="289" r:id="rId14"/>
    <p:sldId id="288" r:id="rId15"/>
    <p:sldId id="290" r:id="rId16"/>
    <p:sldId id="291" r:id="rId17"/>
    <p:sldId id="292" r:id="rId18"/>
    <p:sldId id="285" r:id="rId19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999"/>
    <a:srgbClr val="102D69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94"/>
  </p:normalViewPr>
  <p:slideViewPr>
    <p:cSldViewPr snapToGrid="0" snapToObjects="1">
      <p:cViewPr>
        <p:scale>
          <a:sx n="150" d="100"/>
          <a:sy n="150" d="100"/>
        </p:scale>
        <p:origin x="108" y="10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11/18/2025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11/18/2025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601772"/>
            <a:ext cx="7634059" cy="1978323"/>
          </a:xfrm>
        </p:spPr>
        <p:txBody>
          <a:bodyPr/>
          <a:lstStyle/>
          <a:p>
            <a:r>
              <a:rPr lang="ru-RU" dirty="0"/>
              <a:t>Прогнозирование содержания железа в рудном концентрате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Центр непрерывного образования</a:t>
            </a:r>
          </a:p>
          <a:p>
            <a:r>
              <a:rPr lang="ru-RU" dirty="0"/>
              <a:t>Факультета компьютерных наук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784515" y="1187841"/>
            <a:ext cx="2217738" cy="463186"/>
          </a:xfrm>
        </p:spPr>
        <p:txBody>
          <a:bodyPr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2025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Слушатель: Дорофеев Дмитрий</a:t>
            </a:r>
          </a:p>
          <a:p>
            <a:r>
              <a:rPr lang="ru-RU" dirty="0"/>
              <a:t>Руководитель: </a:t>
            </a:r>
            <a:r>
              <a:rPr lang="ru-RU" dirty="0" err="1"/>
              <a:t>Абдуракипов</a:t>
            </a:r>
            <a:r>
              <a:rPr lang="ru-RU" dirty="0"/>
              <a:t> Сергей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FBEEDB0-FC6A-D9E6-08C0-16B8B8425AB4}"/>
              </a:ext>
            </a:extLst>
          </p:cNvPr>
          <p:cNvSpPr/>
          <p:nvPr/>
        </p:nvSpPr>
        <p:spPr>
          <a:xfrm>
            <a:off x="5839548" y="908094"/>
            <a:ext cx="580171" cy="1054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3B09B93-59D8-DDBE-9119-8425913B4D69}"/>
              </a:ext>
            </a:extLst>
          </p:cNvPr>
          <p:cNvSpPr/>
          <p:nvPr/>
        </p:nvSpPr>
        <p:spPr>
          <a:xfrm>
            <a:off x="354170" y="1164174"/>
            <a:ext cx="5995116" cy="21521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261666"/>
            <a:ext cx="5510102" cy="2498965"/>
          </a:xfrm>
        </p:spPr>
        <p:txBody>
          <a:bodyPr/>
          <a:lstStyle/>
          <a:p>
            <a:pPr algn="just"/>
            <a:r>
              <a:rPr lang="ru-RU" b="1" dirty="0"/>
              <a:t>Сталь</a:t>
            </a:r>
            <a:r>
              <a:rPr lang="ru-RU" dirty="0"/>
              <a:t> — один из основных материалов для строительства и производства, а ее потребление ежегодно составляет сотни миллионов тонн. Оценить масштабы выплавки стали в 2024 году можно на основе данных Всемирной ассоциации производителей стали (</a:t>
            </a:r>
            <a:r>
              <a:rPr lang="ru-RU" i="1" dirty="0"/>
              <a:t>World Steel Association</a:t>
            </a:r>
            <a:r>
              <a:rPr lang="ru-RU" dirty="0"/>
              <a:t>).</a:t>
            </a:r>
          </a:p>
          <a:p>
            <a:pPr algn="just"/>
            <a:r>
              <a:rPr lang="ru-RU" dirty="0"/>
              <a:t>Общемировой объем производства стали в минувшем году составил </a:t>
            </a:r>
            <a:r>
              <a:rPr lang="ru-RU" u="sng" dirty="0"/>
              <a:t>1,9 млрд тонн</a:t>
            </a:r>
            <a:r>
              <a:rPr lang="ru-RU" dirty="0"/>
              <a:t>. При этом более половины (1 млрд тонн) пришлось на </a:t>
            </a:r>
            <a:r>
              <a:rPr lang="ru-RU" b="1" dirty="0"/>
              <a:t>Китай</a:t>
            </a:r>
            <a:r>
              <a:rPr lang="ru-RU" dirty="0"/>
              <a:t> — эта страна лидирует в рейтинге с огромным отрывом. На втором месте идет </a:t>
            </a:r>
            <a:r>
              <a:rPr lang="ru-RU" b="1" dirty="0"/>
              <a:t>Индия</a:t>
            </a:r>
            <a:r>
              <a:rPr lang="ru-RU" dirty="0"/>
              <a:t>, где в 2024-м произвели 149 млн тонн стали, а замыкает тройку </a:t>
            </a:r>
            <a:r>
              <a:rPr lang="ru-RU" b="1" dirty="0"/>
              <a:t>Япония</a:t>
            </a:r>
            <a:r>
              <a:rPr lang="ru-RU" dirty="0"/>
              <a:t> (84 млн тонн)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87CE8F2-78AE-C13E-EE03-4BDEECFAAA4D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4BBE11D-E4D1-303D-F829-9B6EC6B40F63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745CF-3507-4BC5-6006-562CA0176773}"/>
              </a:ext>
            </a:extLst>
          </p:cNvPr>
          <p:cNvSpPr txBox="1"/>
          <p:nvPr/>
        </p:nvSpPr>
        <p:spPr>
          <a:xfrm>
            <a:off x="11742687" y="6333043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7DFB23-2E08-AF92-F1BE-BD165AD0138C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631D19EE-DBEE-73C9-682F-9ED2001EC79B}"/>
              </a:ext>
            </a:extLst>
          </p:cNvPr>
          <p:cNvSpPr txBox="1">
            <a:spLocks/>
          </p:cNvSpPr>
          <p:nvPr/>
        </p:nvSpPr>
        <p:spPr>
          <a:xfrm>
            <a:off x="585898" y="3678750"/>
            <a:ext cx="5510102" cy="2498965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ru-RU" sz="1800" b="1" dirty="0"/>
              <a:t>Применение стали: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Машиностроение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Авиастроение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Энергетика и нефтегаз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 Пищевая отрасль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Железнодорожный транспорт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Медицина</a:t>
            </a:r>
          </a:p>
          <a:p>
            <a:pPr marL="342900" indent="-342900" algn="just">
              <a:buAutoNum type="arabicParenR"/>
            </a:pP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E854C36-2123-2160-41EF-1286BEEA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7" t="1455" b="26573"/>
          <a:stretch>
            <a:fillRect/>
          </a:stretch>
        </p:blipFill>
        <p:spPr>
          <a:xfrm>
            <a:off x="7441226" y="355680"/>
            <a:ext cx="3791423" cy="25178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6F8E1AA-3D93-1BC6-EE00-28A53754358E}"/>
              </a:ext>
            </a:extLst>
          </p:cNvPr>
          <p:cNvSpPr txBox="1"/>
          <p:nvPr/>
        </p:nvSpPr>
        <p:spPr>
          <a:xfrm>
            <a:off x="8172067" y="2884497"/>
            <a:ext cx="2329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Топ стран-производителей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World Steel Association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F07C7F7-78F3-30AA-0546-27EFABC4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t="25367" r="11038" b="8277"/>
          <a:stretch>
            <a:fillRect/>
          </a:stretch>
        </p:blipFill>
        <p:spPr>
          <a:xfrm>
            <a:off x="7348025" y="3429000"/>
            <a:ext cx="3884624" cy="2664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E2F594A-4D1C-3CFB-9A23-C9BF0BF1313D}"/>
              </a:ext>
            </a:extLst>
          </p:cNvPr>
          <p:cNvSpPr txBox="1"/>
          <p:nvPr/>
        </p:nvSpPr>
        <p:spPr>
          <a:xfrm>
            <a:off x="8060722" y="6040655"/>
            <a:ext cx="2552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Мировые темпы потребления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Wiki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29A6-B7B6-6D12-5575-1A00A9FF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BA6EEC2-CAE4-7FE6-0B39-B46F4F217653}"/>
              </a:ext>
            </a:extLst>
          </p:cNvPr>
          <p:cNvSpPr/>
          <p:nvPr/>
        </p:nvSpPr>
        <p:spPr>
          <a:xfrm>
            <a:off x="585897" y="3197247"/>
            <a:ext cx="6381363" cy="9270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A4BEB9-2AB7-9E66-4D27-BCB2D72355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9989" y="1261666"/>
            <a:ext cx="6072285" cy="4853383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b="1" dirty="0"/>
              <a:t>Руда (30 – 50</a:t>
            </a:r>
            <a:r>
              <a:rPr lang="en-US" b="1" dirty="0"/>
              <a:t> </a:t>
            </a:r>
            <a:r>
              <a:rPr lang="ru-RU" b="1" dirty="0"/>
              <a:t>% </a:t>
            </a:r>
            <a:r>
              <a:rPr lang="en-US" b="1" dirty="0"/>
              <a:t>Fe) – </a:t>
            </a:r>
            <a:r>
              <a:rPr lang="ru-RU" dirty="0"/>
              <a:t>природное образование, содержащее металлы в таких соединениях и концентрациях, при которых их промышленное использование </a:t>
            </a:r>
            <a:r>
              <a:rPr lang="ru-RU" u="sng" dirty="0"/>
              <a:t>технически возможно </a:t>
            </a:r>
            <a:r>
              <a:rPr lang="ru-RU" dirty="0"/>
              <a:t>и </a:t>
            </a:r>
            <a:r>
              <a:rPr lang="ru-RU" u="sng" dirty="0"/>
              <a:t>экономически целесообразно </a:t>
            </a:r>
            <a:r>
              <a:rPr lang="ru-RU" dirty="0"/>
              <a:t>– </a:t>
            </a:r>
            <a:r>
              <a:rPr lang="ru-RU" b="1" dirty="0"/>
              <a:t>по сути горная порода</a:t>
            </a:r>
            <a:r>
              <a:rPr lang="ru-RU" dirty="0"/>
              <a:t>.</a:t>
            </a:r>
          </a:p>
          <a:p>
            <a:pPr algn="just"/>
            <a:r>
              <a:rPr lang="ru-RU" b="1" dirty="0"/>
              <a:t>Концентрат </a:t>
            </a:r>
            <a:r>
              <a:rPr lang="en-US" b="1" dirty="0"/>
              <a:t>(64 - 67 % Fe) </a:t>
            </a:r>
            <a:r>
              <a:rPr lang="ru-RU" b="1" dirty="0"/>
              <a:t>– </a:t>
            </a:r>
            <a:r>
              <a:rPr lang="ru-RU" dirty="0"/>
              <a:t>исходное сырьё для получения чугуна и стали. Для получения концентрата руду </a:t>
            </a:r>
            <a:r>
              <a:rPr lang="ru-RU" u="sng" dirty="0"/>
              <a:t>необходимо обогатить железом</a:t>
            </a:r>
            <a:r>
              <a:rPr lang="ru-RU" dirty="0"/>
              <a:t> с учётом свойств материала. </a:t>
            </a:r>
          </a:p>
          <a:p>
            <a:pPr algn="just"/>
            <a:r>
              <a:rPr lang="ru-RU" b="1" dirty="0"/>
              <a:t>Обогащение – </a:t>
            </a:r>
            <a:r>
              <a:rPr lang="ru-RU" dirty="0"/>
              <a:t>повышение содержания железа путём отделения рудного минерала от пустой породы. </a:t>
            </a:r>
          </a:p>
          <a:p>
            <a:pPr algn="just"/>
            <a:endParaRPr lang="ru-RU" dirty="0"/>
          </a:p>
          <a:p>
            <a:pPr algn="just"/>
            <a:r>
              <a:rPr lang="ru-RU" sz="2000" dirty="0"/>
              <a:t>Ежегодно на территории СНГ обогащают около </a:t>
            </a:r>
            <a:r>
              <a:rPr lang="ru-RU" sz="2000" b="1" dirty="0"/>
              <a:t>1 млрд тонн руды</a:t>
            </a:r>
            <a:r>
              <a:rPr lang="ru-RU" sz="2000" dirty="0"/>
              <a:t> 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b="1" dirty="0"/>
              <a:t>Зачем обогащать руду?</a:t>
            </a:r>
          </a:p>
          <a:p>
            <a:pPr marL="457200" indent="-457200" algn="just">
              <a:buAutoNum type="arabicParenR"/>
            </a:pPr>
            <a:r>
              <a:rPr lang="ru-RU" sz="2000" dirty="0"/>
              <a:t>Снижение расхода топлива при плавке</a:t>
            </a:r>
          </a:p>
          <a:p>
            <a:pPr marL="457200" indent="-457200" algn="just">
              <a:buAutoNum type="arabicParenR"/>
            </a:pPr>
            <a:r>
              <a:rPr lang="ru-RU" sz="2000" dirty="0"/>
              <a:t>Увеличение производительности печи</a:t>
            </a:r>
          </a:p>
          <a:p>
            <a:pPr marL="457200" indent="-457200" algn="just">
              <a:buAutoNum type="arabicParenR"/>
            </a:pPr>
            <a:r>
              <a:rPr lang="ru-RU" sz="2000" dirty="0"/>
              <a:t>Очистка от вредных примесей</a:t>
            </a:r>
          </a:p>
          <a:p>
            <a:pPr algn="just"/>
            <a:endParaRPr lang="ru-RU" sz="2400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F42F9DE-C2B8-AABE-8E8A-C96A31D9D566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21A6803-A674-7AC9-E750-668AFC1DFD8B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106F0-33E3-C17C-C61A-16ACFC1599B9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D7AC3-376D-B79B-BBB4-3290F13A0D9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C262C0-DD31-326C-E66C-8C145E306343}"/>
              </a:ext>
            </a:extLst>
          </p:cNvPr>
          <p:cNvSpPr txBox="1"/>
          <p:nvPr/>
        </p:nvSpPr>
        <p:spPr>
          <a:xfrm>
            <a:off x="8987573" y="2723998"/>
            <a:ext cx="11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Железная руда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D3A45A-9673-6008-91DB-C9DDA816C6C1}"/>
              </a:ext>
            </a:extLst>
          </p:cNvPr>
          <p:cNvSpPr txBox="1"/>
          <p:nvPr/>
        </p:nvSpPr>
        <p:spPr>
          <a:xfrm>
            <a:off x="8804255" y="6027351"/>
            <a:ext cx="1650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Железный концентрат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897B80A-5237-CBCF-9108-0E2F4D35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Проблематика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F66389A-1153-BF06-A0DC-27A6F1BCE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9" b="13910"/>
          <a:stretch>
            <a:fillRect/>
          </a:stretch>
        </p:blipFill>
        <p:spPr bwMode="auto">
          <a:xfrm>
            <a:off x="8026906" y="704225"/>
            <a:ext cx="2949925" cy="211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59DA743B-7563-2E36-1C2E-8737117DD0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" t="15934" r="7371" b="9793"/>
          <a:stretch>
            <a:fillRect/>
          </a:stretch>
        </p:blipFill>
        <p:spPr bwMode="auto">
          <a:xfrm>
            <a:off x="8026906" y="4033447"/>
            <a:ext cx="3089604" cy="197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05D22EA2-810F-01B3-7B8C-19567B6AE9E8}"/>
              </a:ext>
            </a:extLst>
          </p:cNvPr>
          <p:cNvSpPr/>
          <p:nvPr/>
        </p:nvSpPr>
        <p:spPr>
          <a:xfrm>
            <a:off x="9388828" y="3112511"/>
            <a:ext cx="365760" cy="806878"/>
          </a:xfrm>
          <a:prstGeom prst="downArrow">
            <a:avLst/>
          </a:prstGeom>
          <a:solidFill>
            <a:srgbClr val="244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FE89E-310C-89EC-037C-FB210B7B0EF4}"/>
              </a:ext>
            </a:extLst>
          </p:cNvPr>
          <p:cNvSpPr txBox="1"/>
          <p:nvPr/>
        </p:nvSpPr>
        <p:spPr>
          <a:xfrm>
            <a:off x="9809164" y="3259723"/>
            <a:ext cx="1307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b="1" dirty="0">
                <a:latin typeface="HSE Sans" panose="02000000000000000000" pitchFamily="2" charset="0"/>
              </a:rPr>
              <a:t>Обогащение</a:t>
            </a:r>
          </a:p>
        </p:txBody>
      </p:sp>
    </p:spTree>
    <p:extLst>
      <p:ext uri="{BB962C8B-B14F-4D97-AF65-F5344CB8AC3E}">
        <p14:creationId xmlns:p14="http://schemas.microsoft.com/office/powerpoint/2010/main" val="393740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D4D6-C025-2389-016A-B95BCBF0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882E65-4336-2078-45A2-E03CDC4363FE}"/>
              </a:ext>
            </a:extLst>
          </p:cNvPr>
          <p:cNvSpPr/>
          <p:nvPr/>
        </p:nvSpPr>
        <p:spPr>
          <a:xfrm>
            <a:off x="2918591" y="315712"/>
            <a:ext cx="4047359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8EFD4DD-D1A1-B192-9163-B154DEBAAFAA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503C9-D1E4-D7CE-B8D4-F1F8E38FD95B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9D938-310D-C5F5-35A9-67C532034CA6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DDC79B1-399D-A8B6-4E9C-059F1E53F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Логика анализа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F6EB1C5-AB8B-73B1-2E72-70209D64DFB8}"/>
              </a:ext>
            </a:extLst>
          </p:cNvPr>
          <p:cNvSpPr/>
          <p:nvPr/>
        </p:nvSpPr>
        <p:spPr>
          <a:xfrm>
            <a:off x="427149" y="1957466"/>
            <a:ext cx="1388952" cy="627818"/>
          </a:xfrm>
          <a:prstGeom prst="round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Загрузка датасета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548E73A-4317-502B-5D60-471E6F6DA4F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816101" y="2271375"/>
            <a:ext cx="8572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Текст 3">
            <a:extLst>
              <a:ext uri="{FF2B5EF4-FFF2-40B4-BE49-F238E27FC236}">
                <a16:creationId xmlns:a16="http://schemas.microsoft.com/office/drawing/2014/main" id="{7A9CF747-0839-6808-2815-F3D5A135FA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7808" y="527831"/>
            <a:ext cx="5510102" cy="1355410"/>
          </a:xfrm>
        </p:spPr>
        <p:txBody>
          <a:bodyPr/>
          <a:lstStyle/>
          <a:p>
            <a:pPr algn="just"/>
            <a:r>
              <a:rPr lang="ru-RU" sz="1800" b="1" dirty="0"/>
              <a:t>Исходные данные:</a:t>
            </a:r>
          </a:p>
          <a:p>
            <a:pPr marL="342900" indent="-342900" algn="just">
              <a:buAutoNum type="arabicParenR"/>
            </a:pPr>
            <a:r>
              <a:rPr lang="en-US" dirty="0"/>
              <a:t>RESULTS – </a:t>
            </a:r>
            <a:r>
              <a:rPr lang="ru-RU" dirty="0"/>
              <a:t>данные с результатами измерений концентрации железа</a:t>
            </a:r>
          </a:p>
          <a:p>
            <a:pPr marL="342900" indent="-342900" algn="just">
              <a:buAutoNum type="arabicParenR"/>
            </a:pPr>
            <a:r>
              <a:rPr lang="en-US" dirty="0"/>
              <a:t>SENSORS – </a:t>
            </a:r>
            <a:r>
              <a:rPr lang="ru-RU" dirty="0"/>
              <a:t>данные с производственных датчиков</a:t>
            </a:r>
          </a:p>
          <a:p>
            <a:pPr marL="342900" indent="-342900" algn="just">
              <a:buAutoNum type="arabicParenR"/>
            </a:pPr>
            <a:r>
              <a:rPr lang="en-US" dirty="0"/>
              <a:t>SENSORS_INFO – </a:t>
            </a:r>
            <a:r>
              <a:rPr lang="ru-RU" dirty="0"/>
              <a:t>информация о сенсорах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460F890-B8ED-5A8A-1BDA-024192220F20}"/>
              </a:ext>
            </a:extLst>
          </p:cNvPr>
          <p:cNvSpPr/>
          <p:nvPr/>
        </p:nvSpPr>
        <p:spPr>
          <a:xfrm>
            <a:off x="2673350" y="1957466"/>
            <a:ext cx="1388952" cy="627818"/>
          </a:xfrm>
          <a:prstGeom prst="round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Загрузка датасета</a:t>
            </a:r>
          </a:p>
        </p:txBody>
      </p:sp>
    </p:spTree>
    <p:extLst>
      <p:ext uri="{BB962C8B-B14F-4D97-AF65-F5344CB8AC3E}">
        <p14:creationId xmlns:p14="http://schemas.microsoft.com/office/powerpoint/2010/main" val="234133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A52A-6607-2263-471D-849DF2E1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C614EFDD-5D29-DAD7-87FD-A5FB3BC149A1}"/>
              </a:ext>
            </a:extLst>
          </p:cNvPr>
          <p:cNvSpPr/>
          <p:nvPr/>
        </p:nvSpPr>
        <p:spPr>
          <a:xfrm>
            <a:off x="354170" y="1164174"/>
            <a:ext cx="5995116" cy="21521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B36CC1D-29B7-FEB6-2A19-FCCAE273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4A7FF9-51DF-7AFB-6C1D-8BC2F3211D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261666"/>
            <a:ext cx="5510102" cy="2498965"/>
          </a:xfrm>
        </p:spPr>
        <p:txBody>
          <a:bodyPr/>
          <a:lstStyle/>
          <a:p>
            <a:pPr algn="just"/>
            <a:r>
              <a:rPr lang="ru-RU" b="1" dirty="0"/>
              <a:t>Сталь</a:t>
            </a:r>
            <a:r>
              <a:rPr lang="ru-RU" dirty="0"/>
              <a:t> — один из основных материалов для строительства и производства, а ее потребление ежегодно составляет сотни миллионов тонн. Оценить масштабы выплавки стали в 2024 году можно на основе данных Всемирной ассоциации производителей стали (</a:t>
            </a:r>
            <a:r>
              <a:rPr lang="ru-RU" i="1" dirty="0"/>
              <a:t>World Steel Association</a:t>
            </a:r>
            <a:r>
              <a:rPr lang="ru-RU" dirty="0"/>
              <a:t>).</a:t>
            </a:r>
          </a:p>
          <a:p>
            <a:pPr algn="just"/>
            <a:r>
              <a:rPr lang="ru-RU" dirty="0"/>
              <a:t>Общемировой объем производства стали в минувшем году составил </a:t>
            </a:r>
            <a:r>
              <a:rPr lang="ru-RU" u="sng" dirty="0"/>
              <a:t>1,9 млрд тонн</a:t>
            </a:r>
            <a:r>
              <a:rPr lang="ru-RU" dirty="0"/>
              <a:t>. При этом более половины (1 млрд тонн) пришлось на </a:t>
            </a:r>
            <a:r>
              <a:rPr lang="ru-RU" b="1" dirty="0"/>
              <a:t>Китай</a:t>
            </a:r>
            <a:r>
              <a:rPr lang="ru-RU" dirty="0"/>
              <a:t> — эта страна лидирует в рейтинге с огромным отрывом. На втором месте идет </a:t>
            </a:r>
            <a:r>
              <a:rPr lang="ru-RU" b="1" dirty="0"/>
              <a:t>Индия</a:t>
            </a:r>
            <a:r>
              <a:rPr lang="ru-RU" dirty="0"/>
              <a:t>, где в 2024-м произвели 149 млн тонн стали, а замыкает тройку </a:t>
            </a:r>
            <a:r>
              <a:rPr lang="ru-RU" b="1" dirty="0"/>
              <a:t>Япония</a:t>
            </a:r>
            <a:r>
              <a:rPr lang="ru-RU" dirty="0"/>
              <a:t> (84 млн тонн)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CBEE5C8-B053-643B-1ADA-8EF95EC043F8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E4A795A-9A41-B368-3CDA-4355AF31AF2F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742AD-BC0E-CE56-900F-7B1B033CFDB5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20B7C7-5CC0-002B-24C5-7D1302BBCD9B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7730F613-9373-62EE-088E-DDD163EE2FC4}"/>
              </a:ext>
            </a:extLst>
          </p:cNvPr>
          <p:cNvSpPr txBox="1">
            <a:spLocks/>
          </p:cNvSpPr>
          <p:nvPr/>
        </p:nvSpPr>
        <p:spPr>
          <a:xfrm>
            <a:off x="585898" y="3678750"/>
            <a:ext cx="5510102" cy="2498965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ru-RU" sz="1800" b="1" dirty="0"/>
              <a:t>Применение стали: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Машиностроение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Авиастроение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Энергетика и нефтегаз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 Пищевая отрасль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Железнодорожный транспорт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Медицина</a:t>
            </a:r>
          </a:p>
          <a:p>
            <a:pPr marL="342900" indent="-342900" algn="just">
              <a:buAutoNum type="arabicParenR"/>
            </a:pP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A85146A-542F-AD6D-94D1-6CBD170D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7" b="26573"/>
          <a:stretch>
            <a:fillRect/>
          </a:stretch>
        </p:blipFill>
        <p:spPr>
          <a:xfrm>
            <a:off x="7441226" y="304764"/>
            <a:ext cx="3791423" cy="25687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B728CB-2872-E127-2790-5815421A592C}"/>
              </a:ext>
            </a:extLst>
          </p:cNvPr>
          <p:cNvSpPr txBox="1"/>
          <p:nvPr/>
        </p:nvSpPr>
        <p:spPr>
          <a:xfrm>
            <a:off x="8172067" y="2884497"/>
            <a:ext cx="2329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Топ стран-производителей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World Steel Association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FCA90CE-C79F-33E2-327C-BDBFAA5C7C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t="25367" r="11038" b="8277"/>
          <a:stretch>
            <a:fillRect/>
          </a:stretch>
        </p:blipFill>
        <p:spPr>
          <a:xfrm>
            <a:off x="7348025" y="3429000"/>
            <a:ext cx="3884624" cy="2664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CD76A48-5C31-4A4A-5044-DFC485FC7E5B}"/>
              </a:ext>
            </a:extLst>
          </p:cNvPr>
          <p:cNvSpPr txBox="1"/>
          <p:nvPr/>
        </p:nvSpPr>
        <p:spPr>
          <a:xfrm>
            <a:off x="8060722" y="6040655"/>
            <a:ext cx="2552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Мировые темпы потребления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Wiki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67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6DA2-DAA2-2C3A-53E3-2AA05396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B47AE00-2AA7-3643-8792-681C3A397962}"/>
              </a:ext>
            </a:extLst>
          </p:cNvPr>
          <p:cNvSpPr/>
          <p:nvPr/>
        </p:nvSpPr>
        <p:spPr>
          <a:xfrm>
            <a:off x="354170" y="1164174"/>
            <a:ext cx="5995116" cy="21521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2D835B6-779F-AF85-5AA8-B38CBBE9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B37F75-59A9-7282-12F5-E7E25F9C4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261666"/>
            <a:ext cx="5510102" cy="2498965"/>
          </a:xfrm>
        </p:spPr>
        <p:txBody>
          <a:bodyPr/>
          <a:lstStyle/>
          <a:p>
            <a:pPr algn="just"/>
            <a:r>
              <a:rPr lang="ru-RU" b="1" dirty="0"/>
              <a:t>Сталь</a:t>
            </a:r>
            <a:r>
              <a:rPr lang="ru-RU" dirty="0"/>
              <a:t> — один из основных материалов для строительства и производства, а ее потребление ежегодно составляет сотни миллионов тонн. Оценить масштабы выплавки стали в 2024 году можно на основе данных Всемирной ассоциации производителей стали (</a:t>
            </a:r>
            <a:r>
              <a:rPr lang="ru-RU" i="1" dirty="0"/>
              <a:t>World Steel Association</a:t>
            </a:r>
            <a:r>
              <a:rPr lang="ru-RU" dirty="0"/>
              <a:t>).</a:t>
            </a:r>
          </a:p>
          <a:p>
            <a:pPr algn="just"/>
            <a:r>
              <a:rPr lang="ru-RU" dirty="0"/>
              <a:t>Общемировой объем производства стали в минувшем году составил </a:t>
            </a:r>
            <a:r>
              <a:rPr lang="ru-RU" u="sng" dirty="0"/>
              <a:t>1,9 млрд тонн</a:t>
            </a:r>
            <a:r>
              <a:rPr lang="ru-RU" dirty="0"/>
              <a:t>. При этом более половины (1 млрд тонн) пришлось на </a:t>
            </a:r>
            <a:r>
              <a:rPr lang="ru-RU" b="1" dirty="0"/>
              <a:t>Китай</a:t>
            </a:r>
            <a:r>
              <a:rPr lang="ru-RU" dirty="0"/>
              <a:t> — эта страна лидирует в рейтинге с огромным отрывом. На втором месте идет </a:t>
            </a:r>
            <a:r>
              <a:rPr lang="ru-RU" b="1" dirty="0"/>
              <a:t>Индия</a:t>
            </a:r>
            <a:r>
              <a:rPr lang="ru-RU" dirty="0"/>
              <a:t>, где в 2024-м произвели 149 млн тонн стали, а замыкает тройку </a:t>
            </a:r>
            <a:r>
              <a:rPr lang="ru-RU" b="1" dirty="0"/>
              <a:t>Япония</a:t>
            </a:r>
            <a:r>
              <a:rPr lang="ru-RU" dirty="0"/>
              <a:t> (84 млн тонн)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B439A6-BAA1-6C6D-7F17-9E71E39F2AB6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E2E3F-FD52-8F0A-64A4-FB686F0263BE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EDEFD-9016-D6D1-B414-AE72351B8C7F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71693-550F-33BB-B4C9-7FD591EB4A1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5DF9AACE-DED4-3BCB-0510-22A0012C7F2C}"/>
              </a:ext>
            </a:extLst>
          </p:cNvPr>
          <p:cNvSpPr txBox="1">
            <a:spLocks/>
          </p:cNvSpPr>
          <p:nvPr/>
        </p:nvSpPr>
        <p:spPr>
          <a:xfrm>
            <a:off x="585898" y="3678750"/>
            <a:ext cx="5510102" cy="2498965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ru-RU" sz="1800" b="1" dirty="0"/>
              <a:t>Применение стали: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Машиностроение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Авиастроение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Энергетика и нефтегаз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 Пищевая отрасль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Железнодорожный транспорт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Медицина</a:t>
            </a:r>
          </a:p>
          <a:p>
            <a:pPr marL="342900" indent="-342900" algn="just">
              <a:buAutoNum type="arabicParenR"/>
            </a:pP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E484290-00F1-C866-6925-E192BC22D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7" b="26573"/>
          <a:stretch>
            <a:fillRect/>
          </a:stretch>
        </p:blipFill>
        <p:spPr>
          <a:xfrm>
            <a:off x="7441226" y="304764"/>
            <a:ext cx="3791423" cy="25687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7EB53E-7C1B-4AAA-52ED-216F1477CBA9}"/>
              </a:ext>
            </a:extLst>
          </p:cNvPr>
          <p:cNvSpPr txBox="1"/>
          <p:nvPr/>
        </p:nvSpPr>
        <p:spPr>
          <a:xfrm>
            <a:off x="8172067" y="2884497"/>
            <a:ext cx="2329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Топ стран-производителей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World Steel Association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42F5CDF-0254-1937-0149-0C1E177068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t="25367" r="11038" b="8277"/>
          <a:stretch>
            <a:fillRect/>
          </a:stretch>
        </p:blipFill>
        <p:spPr>
          <a:xfrm>
            <a:off x="7348025" y="3429000"/>
            <a:ext cx="3884624" cy="2664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6BE0EAA-8F7B-B357-A5A8-647C818F5273}"/>
              </a:ext>
            </a:extLst>
          </p:cNvPr>
          <p:cNvSpPr txBox="1"/>
          <p:nvPr/>
        </p:nvSpPr>
        <p:spPr>
          <a:xfrm>
            <a:off x="8060722" y="6040655"/>
            <a:ext cx="2552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Мировые темпы потребления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Wiki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94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8758-B614-33F2-82B5-F41444C6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BCFDF85-6546-CD2E-5DCC-B757860F02EC}"/>
              </a:ext>
            </a:extLst>
          </p:cNvPr>
          <p:cNvSpPr/>
          <p:nvPr/>
        </p:nvSpPr>
        <p:spPr>
          <a:xfrm>
            <a:off x="354170" y="1164174"/>
            <a:ext cx="5995116" cy="21521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7B3BEAE-E01C-1CC3-115A-BEECA786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045370-73D1-BE6D-09FE-56A9F084A7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261666"/>
            <a:ext cx="5510102" cy="2498965"/>
          </a:xfrm>
        </p:spPr>
        <p:txBody>
          <a:bodyPr/>
          <a:lstStyle/>
          <a:p>
            <a:pPr algn="just"/>
            <a:r>
              <a:rPr lang="ru-RU" b="1" dirty="0"/>
              <a:t>Сталь</a:t>
            </a:r>
            <a:r>
              <a:rPr lang="ru-RU" dirty="0"/>
              <a:t> — один из основных материалов для строительства и производства, а ее потребление ежегодно составляет сотни миллионов тонн. Оценить масштабы выплавки стали в 2024 году можно на основе данных Всемирной ассоциации производителей стали (</a:t>
            </a:r>
            <a:r>
              <a:rPr lang="ru-RU" i="1" dirty="0"/>
              <a:t>World Steel Association</a:t>
            </a:r>
            <a:r>
              <a:rPr lang="ru-RU" dirty="0"/>
              <a:t>).</a:t>
            </a:r>
          </a:p>
          <a:p>
            <a:pPr algn="just"/>
            <a:r>
              <a:rPr lang="ru-RU" dirty="0"/>
              <a:t>Общемировой объем производства стали в минувшем году составил </a:t>
            </a:r>
            <a:r>
              <a:rPr lang="ru-RU" u="sng" dirty="0"/>
              <a:t>1,9 млрд тонн</a:t>
            </a:r>
            <a:r>
              <a:rPr lang="ru-RU" dirty="0"/>
              <a:t>. При этом более половины (1 млрд тонн) пришлось на </a:t>
            </a:r>
            <a:r>
              <a:rPr lang="ru-RU" b="1" dirty="0"/>
              <a:t>Китай</a:t>
            </a:r>
            <a:r>
              <a:rPr lang="ru-RU" dirty="0"/>
              <a:t> — эта страна лидирует в рейтинге с огромным отрывом. На втором месте идет </a:t>
            </a:r>
            <a:r>
              <a:rPr lang="ru-RU" b="1" dirty="0"/>
              <a:t>Индия</a:t>
            </a:r>
            <a:r>
              <a:rPr lang="ru-RU" dirty="0"/>
              <a:t>, где в 2024-м произвели 149 млн тонн стали, а замыкает тройку </a:t>
            </a:r>
            <a:r>
              <a:rPr lang="ru-RU" b="1" dirty="0"/>
              <a:t>Япония</a:t>
            </a:r>
            <a:r>
              <a:rPr lang="ru-RU" dirty="0"/>
              <a:t> (84 млн тонн)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0A9CDC7-93AE-1E54-AD70-DF7941A6607C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04300B-22E2-E6E0-5371-BA1940B2667A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2856B-FBF3-1C7A-8F8E-08E79C43724C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C66FF-E26E-7BF4-24B3-1193FD630D1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FCD3BFE8-4589-8B03-D6BA-6EDF65071D85}"/>
              </a:ext>
            </a:extLst>
          </p:cNvPr>
          <p:cNvSpPr txBox="1">
            <a:spLocks/>
          </p:cNvSpPr>
          <p:nvPr/>
        </p:nvSpPr>
        <p:spPr>
          <a:xfrm>
            <a:off x="585898" y="3678750"/>
            <a:ext cx="5510102" cy="2498965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ru-RU" sz="1800" b="1" dirty="0"/>
              <a:t>Применение стали: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Машиностроение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Авиастроение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Энергетика и нефтегаз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 Пищевая отрасль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Железнодорожный транспорт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Медицина</a:t>
            </a:r>
          </a:p>
          <a:p>
            <a:pPr marL="342900" indent="-342900" algn="just">
              <a:buAutoNum type="arabicParenR"/>
            </a:pP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DE4C709-F47E-ACB6-086A-BA4313941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7" b="26573"/>
          <a:stretch>
            <a:fillRect/>
          </a:stretch>
        </p:blipFill>
        <p:spPr>
          <a:xfrm>
            <a:off x="7441226" y="304764"/>
            <a:ext cx="3791423" cy="25687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6C99F04-870D-29BA-C084-0C2A5E3B2636}"/>
              </a:ext>
            </a:extLst>
          </p:cNvPr>
          <p:cNvSpPr txBox="1"/>
          <p:nvPr/>
        </p:nvSpPr>
        <p:spPr>
          <a:xfrm>
            <a:off x="8172067" y="2884497"/>
            <a:ext cx="2329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Топ стран-производителей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World Steel Association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B9FCE47-806E-B94C-960C-927EF11712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t="25367" r="11038" b="8277"/>
          <a:stretch>
            <a:fillRect/>
          </a:stretch>
        </p:blipFill>
        <p:spPr>
          <a:xfrm>
            <a:off x="7348025" y="3429000"/>
            <a:ext cx="3884624" cy="2664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E522404-51B3-BDE4-6185-56D5AD22B8F8}"/>
              </a:ext>
            </a:extLst>
          </p:cNvPr>
          <p:cNvSpPr txBox="1"/>
          <p:nvPr/>
        </p:nvSpPr>
        <p:spPr>
          <a:xfrm>
            <a:off x="8060722" y="6040655"/>
            <a:ext cx="2552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Мировые темпы потребления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Wiki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44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F09F-6BA4-B002-DEC4-D575DE1D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EF922386-156B-B82A-F4F3-D8F1F9C35B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3F4830-3091-7787-CC4C-E190571073A4}"/>
              </a:ext>
            </a:extLst>
          </p:cNvPr>
          <p:cNvSpPr/>
          <p:nvPr/>
        </p:nvSpPr>
        <p:spPr>
          <a:xfrm>
            <a:off x="2975347" y="308077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6CF4280D-ED95-E9EB-6E66-A8A7DC96D72D}"/>
              </a:ext>
            </a:extLst>
          </p:cNvPr>
          <p:cNvSpPr txBox="1">
            <a:spLocks/>
          </p:cNvSpPr>
          <p:nvPr/>
        </p:nvSpPr>
        <p:spPr>
          <a:xfrm>
            <a:off x="585897" y="2215477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Руда – природное образование, содержащее металлы в таких соединениях и концентрациях, при которых их промышленное использование технически возможно и экономически целесообразно.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21A1809-F195-0D6B-0571-C0FECB16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600" y="465094"/>
            <a:ext cx="5245560" cy="462991"/>
          </a:xfrm>
        </p:spPr>
        <p:txBody>
          <a:bodyPr/>
          <a:lstStyle/>
          <a:p>
            <a:r>
              <a:rPr lang="ru-RU" dirty="0"/>
              <a:t>Проблематика</a:t>
            </a:r>
          </a:p>
        </p:txBody>
      </p:sp>
    </p:spTree>
    <p:extLst>
      <p:ext uri="{BB962C8B-B14F-4D97-AF65-F5344CB8AC3E}">
        <p14:creationId xmlns:p14="http://schemas.microsoft.com/office/powerpoint/2010/main" val="833681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DB970-0543-FA1B-2E01-7B150A3AD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FC28B75F-4A20-BA57-B3D6-8BFE00BB80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9FA9CB8-7AD9-B6BA-B312-161D5BD5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цели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AE9FBD-6671-A393-E5D5-8E68CF2DDD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Нужно по датчикам определить нужные значения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64DBD1-7E1F-EB91-CFF4-499C4A5FE234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73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03B80-08AF-5B93-9F61-D2DFAFC69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C83EC1F5-11CE-F11F-04CB-F5A10BE6B8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3B4BAC0-A54B-840C-5F1F-90215F58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Показатели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0118A-0F45-FCCD-B0F4-6A3458FD0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D64EF8-541D-ADE9-DCA2-658B2C7E5348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43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ED38-F9E7-ECBB-6448-16F7D321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4DB78CFA-58F9-CBED-DDB5-2FBC33F5B9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F28F16F-023F-1A2B-A32E-7E8EFC79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F920AA-7970-50D0-9CEC-2E757190F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Что представляет собой сырой материал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310B45-03E9-C3B6-B987-F3CC8468D082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80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45F5-01CE-872F-7667-1BDD61EF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40D3FF8F-F562-134C-145A-6158661228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E2E5926-0CFD-9C69-0CD6-28715933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4889A3-6ABD-2174-15E7-FC8B49CF6F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4F98C8-E859-B9AF-AD8E-9BDCD0DD3EE9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71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2C15-824E-4DF2-2130-D9081895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9C88B949-BE04-1936-C4D3-12DCE810B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9C1C973-DADD-75DC-51E9-DD94BC76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Обсуждение результатов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41BA32-2EEB-3318-DF65-CEEC64A680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891156-311E-AFBB-E3C5-28D87EA72912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580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5EB4-F238-D40B-9B80-3E7AA6D6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ABD9869-6B18-2F79-2792-D3F50670E4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D7C3B7F-A8A7-5CD0-55BF-6D0BCA27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Предложения по улучшению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5394E9-189C-E9A1-8856-E3E0808FB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1F41D4-B9DF-4804-AC90-5DB5311499F5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91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782</Words>
  <Application>Microsoft Office PowerPoint</Application>
  <PresentationFormat>Широкоэкранный</PresentationFormat>
  <Paragraphs>109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HSE Sans</vt:lpstr>
      <vt:lpstr>Office Theme</vt:lpstr>
      <vt:lpstr>Прогнозирование содержания железа в рудном концентрате</vt:lpstr>
      <vt:lpstr>Введение</vt:lpstr>
      <vt:lpstr>Проблематика</vt:lpstr>
      <vt:lpstr>Логика анализа</vt:lpstr>
      <vt:lpstr>Введение</vt:lpstr>
      <vt:lpstr>Введение</vt:lpstr>
      <vt:lpstr>Введение</vt:lpstr>
      <vt:lpstr>Проблематика</vt:lpstr>
      <vt:lpstr>Постановка цели</vt:lpstr>
      <vt:lpstr>Показатели</vt:lpstr>
      <vt:lpstr>Исходные данные</vt:lpstr>
      <vt:lpstr>Результаты</vt:lpstr>
      <vt:lpstr>Обсуждение результатов</vt:lpstr>
      <vt:lpstr>Предложения по улучшению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Дорофеев Дмитрий Юрьевич</cp:lastModifiedBy>
  <cp:revision>16</cp:revision>
  <cp:lastPrinted>2021-11-11T13:08:42Z</cp:lastPrinted>
  <dcterms:created xsi:type="dcterms:W3CDTF">2021-11-11T08:52:47Z</dcterms:created>
  <dcterms:modified xsi:type="dcterms:W3CDTF">2025-11-19T14:32:57Z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